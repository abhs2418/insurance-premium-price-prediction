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webextensions/webextension1.xml" ContentType="application/vnd.ms-office.webextension+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33"/>
  </p:notesMasterIdLst>
  <p:handoutMasterIdLst>
    <p:handoutMasterId r:id="rId34"/>
  </p:handoutMasterIdLst>
  <p:sldIdLst>
    <p:sldId id="258" r:id="rId3"/>
    <p:sldId id="259" r:id="rId4"/>
    <p:sldId id="294" r:id="rId5"/>
    <p:sldId id="296" r:id="rId6"/>
    <p:sldId id="299" r:id="rId7"/>
    <p:sldId id="321" r:id="rId8"/>
    <p:sldId id="297" r:id="rId9"/>
    <p:sldId id="317" r:id="rId10"/>
    <p:sldId id="310" r:id="rId11"/>
    <p:sldId id="312" r:id="rId12"/>
    <p:sldId id="313" r:id="rId13"/>
    <p:sldId id="314" r:id="rId14"/>
    <p:sldId id="315" r:id="rId15"/>
    <p:sldId id="300" r:id="rId16"/>
    <p:sldId id="298" r:id="rId17"/>
    <p:sldId id="318" r:id="rId18"/>
    <p:sldId id="319" r:id="rId19"/>
    <p:sldId id="320" r:id="rId20"/>
    <p:sldId id="276" r:id="rId21"/>
    <p:sldId id="308" r:id="rId22"/>
    <p:sldId id="309" r:id="rId23"/>
    <p:sldId id="327" r:id="rId24"/>
    <p:sldId id="328" r:id="rId25"/>
    <p:sldId id="305" r:id="rId26"/>
    <p:sldId id="325" r:id="rId27"/>
    <p:sldId id="326" r:id="rId28"/>
    <p:sldId id="256" r:id="rId29"/>
    <p:sldId id="324" r:id="rId30"/>
    <p:sldId id="306" r:id="rId31"/>
    <p:sldId id="265" r:id="rId32"/>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itchFamily="2" charset="-122"/>
        <a:ea typeface="等线"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itchFamily="2" charset="-122"/>
        <a:ea typeface="等线"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等线" pitchFamily="2" charset="-122"/>
        <a:ea typeface="等线" pitchFamily="2" charset="-122"/>
        <a:cs typeface="+mn-cs"/>
      </a:defRPr>
    </a:lvl9pPr>
  </p:defaultTextStyle>
  <p:extLst>
    <p:ext uri="{EFAFB233-063F-42B5-8137-9DF3F51BA10A}">
      <p15:sldGuideLst xmlns:p15="http://schemas.microsoft.com/office/powerpoint/2012/main">
        <p15:guide id="1" orient="horz" pos="2244" userDrawn="1">
          <p15:clr>
            <a:srgbClr val="A4A3A4"/>
          </p15:clr>
        </p15:guide>
        <p15:guide id="2" pos="3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A3B"/>
    <a:srgbClr val="353F48"/>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70DF9D-0130-4669-AD85-F0BA0E978449}" v="1" dt="2025-02-14T04:05:16.18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p:restoredTop sz="94619"/>
  </p:normalViewPr>
  <p:slideViewPr>
    <p:cSldViewPr snapToGrid="0" showGuides="1">
      <p:cViewPr varScale="1">
        <p:scale>
          <a:sx n="78" d="100"/>
          <a:sy n="78" d="100"/>
        </p:scale>
        <p:origin x="850" y="62"/>
      </p:cViewPr>
      <p:guideLst>
        <p:guide orient="horz" pos="2244"/>
        <p:guide pos="3894"/>
      </p:guideLst>
    </p:cSldViewPr>
  </p:slideViewPr>
  <p:outlineViewPr>
    <p:cViewPr>
      <p:scale>
        <a:sx n="33" d="100"/>
        <a:sy n="33" d="100"/>
      </p:scale>
      <p:origin x="0" y="0"/>
    </p:cViewPr>
  </p:outlineViewPr>
  <p:notesTextViewPr>
    <p:cViewPr>
      <p:scale>
        <a:sx n="1" d="1"/>
        <a:sy n="1" d="1"/>
      </p:scale>
      <p:origin x="0" y="0"/>
    </p:cViewPr>
  </p:notesTextViewPr>
  <p:sorterViewPr showFormatting="0">
    <p:cViewPr varScale="1">
      <p:scale>
        <a:sx n="1" d="1"/>
        <a:sy n="1" d="1"/>
      </p:scale>
      <p:origin x="0" y="-62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等线" pitchFamily="2" charset="-122"/>
                <a:ea typeface="等线" pitchFamily="2" charset="-122"/>
                <a:cs typeface="+mn-cs"/>
              </a:rPr>
              <a:t>2025/2/14</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等线" pitchFamily="2" charset="-122"/>
                <a:ea typeface="等线"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sym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sym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a:ln>
                  <a:noFill/>
                </a:ln>
                <a:effectLst/>
                <a:uLnTx/>
                <a:uFillTx/>
                <a:sym typeface="+mn-ea"/>
              </a:rPr>
              <a:t>Click to edit Master text style</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a:ln>
                  <a:noFill/>
                </a:ln>
                <a:effectLst/>
                <a:uLnTx/>
                <a:uFillTx/>
                <a:sym typeface="+mn-ea"/>
              </a:rPr>
              <a:t>Second level</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a:ln>
                  <a:noFill/>
                </a:ln>
                <a:effectLst/>
                <a:uLnTx/>
                <a:uFillTx/>
                <a:sym typeface="+mn-ea"/>
              </a:rPr>
              <a:t>Third level</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a:ln>
                  <a:noFill/>
                </a:ln>
                <a:effectLst/>
                <a:uLnTx/>
                <a:uFillTx/>
                <a:sym typeface="+mn-ea"/>
              </a:rPr>
              <a:t>Fourth level</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a:ln>
                  <a:noFill/>
                </a:ln>
                <a:effectLst/>
                <a:uLnTx/>
                <a:uFillTx/>
                <a:sym typeface="+mn-ea"/>
              </a:rPr>
              <a:t>Fifth level</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sym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F7C9B17E-EBA4-4BA6-BFBF-CFC4EA0BE678}"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Arial" panose="020B0604020202020204" pitchFamily="34" charset="0"/>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Arial" panose="020B0604020202020204" pitchFamily="34" charset="0"/>
              <a:cs typeface="+mn-cs"/>
            </a:endParaRPr>
          </a:p>
        </p:txBody>
      </p:sp>
    </p:spTree>
    <p:extLst>
      <p:ext uri="{BB962C8B-B14F-4D97-AF65-F5344CB8AC3E}">
        <p14:creationId xmlns:p14="http://schemas.microsoft.com/office/powerpoint/2010/main" val="34045057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sym typeface="Arial" panose="020B0604020202020204" pitchFamily="34" charset="0"/>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sym typeface="Arial" panose="020B0604020202020204" pitchFamily="34" charset="0"/>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sym typeface="Arial" panose="020B0604020202020204" pitchFamily="34" charset="0"/>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sym typeface="Arial" panose="020B0604020202020204" pitchFamily="34" charset="0"/>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ln>
            <a:solidFill>
              <a:srgbClr val="000000"/>
            </a:solidFill>
          </a:ln>
        </p:spPr>
      </p:sp>
      <p:sp>
        <p:nvSpPr>
          <p:cNvPr id="6146" name="文本占位符 2"/>
          <p:cNvSpPr>
            <a:spLocks noGrp="1"/>
          </p:cNvSpPr>
          <p:nvPr>
            <p:ph type="body"/>
          </p:nvPr>
        </p:nvSpPr>
        <p:spPr>
          <a:noFill/>
          <a:ln>
            <a:noFill/>
          </a:ln>
        </p:spPr>
        <p:txBody>
          <a:bodyPr lIns="91440" tIns="45720" rIns="91440" bIns="45720" anchor="t" anchorCtr="0"/>
          <a:lstStyle/>
          <a:p>
            <a:pPr lvl="0"/>
            <a:endParaRPr lang="zh-CN" altLang="en-US"/>
          </a:p>
        </p:txBody>
      </p:sp>
    </p:spTree>
    <p:extLst>
      <p:ext uri="{BB962C8B-B14F-4D97-AF65-F5344CB8AC3E}">
        <p14:creationId xmlns:p14="http://schemas.microsoft.com/office/powerpoint/2010/main" val="2911151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104539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353F48"/>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Click to edit Master title style</a:t>
            </a:r>
          </a:p>
        </p:txBody>
      </p:sp>
      <p:sp>
        <p:nvSpPr>
          <p:cNvPr id="3" name="内容占位符 2"/>
          <p:cNvSpPr>
            <a:spLocks noGrp="1"/>
          </p:cNvSpPr>
          <p:nvPr>
            <p:ph idx="1" hasCustomPrompt="1"/>
          </p:nvPr>
        </p:nvSpPr>
        <p:spPr/>
        <p:txBody>
          <a:bodyPr/>
          <a:lstStyle/>
          <a:p>
            <a:pPr lvl="0" fontAlgn="auto"/>
            <a:r>
              <a:rPr lang="zh-CN" altLang="en-US" strike="noStrike" noProof="1"/>
              <a:t>Click to edit Master text style</a:t>
            </a:r>
          </a:p>
          <a:p>
            <a:pPr lvl="1" fontAlgn="auto"/>
            <a:r>
              <a:rPr lang="zh-CN" altLang="en-US" strike="noStrike" noProof="1"/>
              <a:t>Second level</a:t>
            </a:r>
          </a:p>
          <a:p>
            <a:pPr lvl="2" fontAlgn="auto"/>
            <a:r>
              <a:rPr lang="zh-CN" altLang="en-US" strike="noStrike" noProof="1"/>
              <a:t>Third level</a:t>
            </a:r>
          </a:p>
          <a:p>
            <a:pPr lvl="3" fontAlgn="auto"/>
            <a:r>
              <a:rPr lang="zh-CN" altLang="en-US" strike="noStrike" noProof="1"/>
              <a:t>Fourth level</a:t>
            </a:r>
          </a:p>
          <a:p>
            <a:pPr lvl="4" fontAlgn="auto"/>
            <a:r>
              <a:rPr lang="zh-CN" altLang="en-US" strike="noStrike" noProof="1"/>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5" name="Footer Placeholder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BCD2E4A-79A0-459F-8578-CC9ECAA6381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2/14/2025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12150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353F48"/>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Click to edit Master title style</a:t>
            </a:r>
          </a:p>
        </p:txBody>
      </p:sp>
      <p:sp>
        <p:nvSpPr>
          <p:cNvPr id="3" name="内容占位符 2"/>
          <p:cNvSpPr>
            <a:spLocks noGrp="1"/>
          </p:cNvSpPr>
          <p:nvPr>
            <p:ph idx="1" hasCustomPrompt="1"/>
          </p:nvPr>
        </p:nvSpPr>
        <p:spPr/>
        <p:txBody>
          <a:bodyPr/>
          <a:lstStyle/>
          <a:p>
            <a:pPr lvl="0" fontAlgn="auto"/>
            <a:r>
              <a:rPr lang="zh-CN" altLang="en-US" strike="noStrike" noProof="1"/>
              <a:t>Click to edit Master text style</a:t>
            </a:r>
          </a:p>
          <a:p>
            <a:pPr lvl="1" fontAlgn="auto"/>
            <a:r>
              <a:rPr lang="zh-CN" altLang="en-US" strike="noStrike" noProof="1"/>
              <a:t>Second level</a:t>
            </a:r>
          </a:p>
          <a:p>
            <a:pPr lvl="2" fontAlgn="auto"/>
            <a:r>
              <a:rPr lang="zh-CN" altLang="en-US" strike="noStrike" noProof="1"/>
              <a:t>Third level</a:t>
            </a:r>
          </a:p>
          <a:p>
            <a:pPr lvl="3" fontAlgn="auto"/>
            <a:r>
              <a:rPr lang="zh-CN" altLang="en-US" strike="noStrike" noProof="1"/>
              <a:t>Fourth level</a:t>
            </a:r>
          </a:p>
          <a:p>
            <a:pPr lvl="4" fontAlgn="auto"/>
            <a:r>
              <a:rPr lang="zh-CN" altLang="en-US" strike="noStrike" noProof="1"/>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5" name="Footer Placeholder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BCD2E4A-79A0-459F-8578-CC9ECAA6381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Click to edit Master title style</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lstStyle/>
          <a:p>
            <a:pPr lvl="0"/>
            <a:r>
              <a:rPr lang="zh-CN" altLang="en-US" dirty="0"/>
              <a:t>Click to edit Master text style</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rPr>
              <a:t> </a:t>
            </a: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rPr>
              <a:t> </a:t>
            </a: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BCD2E4A-79A0-459F-8578-CC9ECAA6381B}"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Click to edit Master title style</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lstStyle/>
          <a:p>
            <a:pPr lvl="0"/>
            <a:r>
              <a:rPr lang="zh-CN" altLang="en-US" dirty="0"/>
              <a:t>Click to edit Master text style</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rPr>
              <a:t> </a:t>
            </a: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rPr>
              <a:t> </a:t>
            </a: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BCD2E4A-79A0-459F-8578-CC9ECAA6381B}"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5805488"/>
            <a:ext cx="12192000" cy="1052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122" name="文本框 6"/>
          <p:cNvSpPr txBox="1"/>
          <p:nvPr/>
        </p:nvSpPr>
        <p:spPr>
          <a:xfrm>
            <a:off x="4986338" y="2078038"/>
            <a:ext cx="6600825" cy="3415030"/>
          </a:xfrm>
          <a:prstGeom prst="rect">
            <a:avLst/>
          </a:prstGeom>
          <a:noFill/>
          <a:ln w="9525">
            <a:noFill/>
          </a:ln>
        </p:spPr>
        <p:txBody>
          <a:bodyPr wrap="square" anchor="t" anchorCtr="0">
            <a:spAutoFit/>
          </a:bodyPr>
          <a:lstStyle/>
          <a:p>
            <a:r>
              <a:rPr lang="en-US" altLang="zh-CN" sz="7200" b="1" dirty="0">
                <a:solidFill>
                  <a:srgbClr val="FFFFFF"/>
                </a:solidFill>
                <a:latin typeface="Arial" panose="020B0604020202020204" pitchFamily="34" charset="0"/>
                <a:ea typeface="Arial" panose="020B0604020202020204" pitchFamily="34" charset="0"/>
              </a:rPr>
              <a:t>Insurance Premium Prediction</a:t>
            </a:r>
          </a:p>
        </p:txBody>
      </p:sp>
      <p:sp>
        <p:nvSpPr>
          <p:cNvPr id="13" name="任意多边形 12"/>
          <p:cNvSpPr/>
          <p:nvPr/>
        </p:nvSpPr>
        <p:spPr>
          <a:xfrm>
            <a:off x="0" y="2528888"/>
            <a:ext cx="4078288" cy="4329113"/>
          </a:xfrm>
          <a:custGeom>
            <a:avLst/>
            <a:gdLst>
              <a:gd name="connsiteX0" fmla="*/ 744589 w 5012696"/>
              <a:gd name="connsiteY0" fmla="*/ 0 h 5320395"/>
              <a:gd name="connsiteX1" fmla="*/ 5012696 w 5012696"/>
              <a:gd name="connsiteY1" fmla="*/ 4268107 h 5320395"/>
              <a:gd name="connsiteX2" fmla="*/ 4925983 w 5012696"/>
              <a:gd name="connsiteY2" fmla="*/ 5128280 h 5320395"/>
              <a:gd name="connsiteX3" fmla="*/ 4876585 w 5012696"/>
              <a:gd name="connsiteY3" fmla="*/ 5320395 h 5320395"/>
              <a:gd name="connsiteX4" fmla="*/ 0 w 5012696"/>
              <a:gd name="connsiteY4" fmla="*/ 5320395 h 5320395"/>
              <a:gd name="connsiteX5" fmla="*/ 0 w 5012696"/>
              <a:gd name="connsiteY5" fmla="*/ 66072 h 5320395"/>
              <a:gd name="connsiteX6" fmla="*/ 94598 w 5012696"/>
              <a:gd name="connsiteY6" fmla="*/ 49178 h 5320395"/>
              <a:gd name="connsiteX7" fmla="*/ 744589 w 5012696"/>
              <a:gd name="connsiteY7" fmla="*/ 0 h 532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2696" h="5320395">
                <a:moveTo>
                  <a:pt x="744589" y="0"/>
                </a:moveTo>
                <a:cubicBezTo>
                  <a:pt x="3101799" y="0"/>
                  <a:pt x="5012696" y="1910897"/>
                  <a:pt x="5012696" y="4268107"/>
                </a:cubicBezTo>
                <a:cubicBezTo>
                  <a:pt x="5012696" y="4562759"/>
                  <a:pt x="4982838" y="4850436"/>
                  <a:pt x="4925983" y="5128280"/>
                </a:cubicBezTo>
                <a:lnTo>
                  <a:pt x="4876585" y="5320395"/>
                </a:lnTo>
                <a:lnTo>
                  <a:pt x="0" y="5320395"/>
                </a:lnTo>
                <a:lnTo>
                  <a:pt x="0" y="66072"/>
                </a:lnTo>
                <a:lnTo>
                  <a:pt x="94598" y="49178"/>
                </a:lnTo>
                <a:cubicBezTo>
                  <a:pt x="306535" y="16795"/>
                  <a:pt x="523601" y="0"/>
                  <a:pt x="744589" y="0"/>
                </a:cubicBez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Project by - </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Abhishek Suryawashi </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Devesh Gautam</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Shubham Jeware</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Piyush Kharalkar</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chemeClr val="lt1"/>
                </a:solidFill>
                <a:effectLst/>
                <a:uLnTx/>
                <a:uFillTx/>
                <a:latin typeface="+mn-lt"/>
                <a:ea typeface="+mn-ea"/>
                <a:cs typeface="+mn-cs"/>
              </a:rPr>
              <a:t>Kaustubh Patil</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a:ln>
                <a:noFill/>
              </a:ln>
              <a:solidFill>
                <a:schemeClr val="lt1"/>
              </a:solidFill>
              <a:effectLst/>
              <a:uLnTx/>
              <a:uFillTx/>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altLang="en-US" sz="1800" b="0" i="0" u="none" strike="noStrike" kern="1200" cap="none" spc="0" normalizeH="0" baseline="0" noProof="0">
                <a:ln>
                  <a:noFill/>
                </a:ln>
                <a:solidFill>
                  <a:schemeClr val="lt1"/>
                </a:solidFill>
                <a:effectLst/>
                <a:uLnTx/>
                <a:uFillTx/>
                <a:latin typeface="+mn-lt"/>
                <a:ea typeface="+mn-ea"/>
                <a:cs typeface="+mn-cs"/>
              </a:rPr>
              <a:t>Guided by-</a:t>
            </a:r>
          </a:p>
          <a:p>
            <a:pPr marL="0" marR="0" lvl="0" indent="457200" algn="just" defTabSz="914400" rtl="0" eaLnBrk="1" fontAlgn="auto" latinLnBrk="0" hangingPunct="1">
              <a:lnSpc>
                <a:spcPct val="100000"/>
              </a:lnSpc>
              <a:spcBef>
                <a:spcPts val="0"/>
              </a:spcBef>
              <a:spcAft>
                <a:spcPts val="0"/>
              </a:spcAft>
              <a:buClrTx/>
              <a:buSzTx/>
              <a:buFontTx/>
              <a:buNone/>
              <a:defRPr/>
            </a:pPr>
            <a:r>
              <a:rPr kumimoji="0" lang="en-IN" altLang="en-US" sz="1800" b="0" i="0" u="none" strike="noStrike" kern="1200" cap="none" spc="0" normalizeH="0" baseline="0" noProof="0">
                <a:ln>
                  <a:noFill/>
                </a:ln>
                <a:solidFill>
                  <a:schemeClr val="lt1"/>
                </a:solidFill>
                <a:effectLst/>
                <a:uLnTx/>
                <a:uFillTx/>
                <a:latin typeface="+mn-lt"/>
                <a:ea typeface="+mn-ea"/>
                <a:cs typeface="+mn-cs"/>
              </a:rPr>
              <a:t>Mr. Milind Kapse</a:t>
            </a:r>
          </a:p>
        </p:txBody>
      </p:sp>
      <p:sp>
        <p:nvSpPr>
          <p:cNvPr id="16" name="椭圆 15"/>
          <p:cNvSpPr/>
          <p:nvPr/>
        </p:nvSpPr>
        <p:spPr>
          <a:xfrm>
            <a:off x="3533775" y="5011738"/>
            <a:ext cx="1089025" cy="10874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10610850" y="730250"/>
            <a:ext cx="411163" cy="409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11387138" y="1357313"/>
            <a:ext cx="258763" cy="2587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384800"/>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rPr>
              <a:t>Objectives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Predict insurance Premium using Machine Learning Algorithms. </a:t>
            </a: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Compare results between different Models </a:t>
            </a: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Explore impact of regularization on our models.</a:t>
            </a: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Provide insights for real world implementation.</a:t>
            </a: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Hand</a:t>
            </a:r>
            <a:r>
              <a:rPr lang="en-IN" altLang="en-US" sz="2400" b="1">
                <a:solidFill>
                  <a:schemeClr val="bg1"/>
                </a:solidFill>
                <a:latin typeface="Arial" panose="020B0604020202020204" pitchFamily="34" charset="0"/>
                <a:cs typeface="Arial" panose="020B0604020202020204" pitchFamily="34" charset="0"/>
              </a:rPr>
              <a:t>l</a:t>
            </a:r>
            <a:r>
              <a:rPr lang="en-US" sz="2400" b="1">
                <a:solidFill>
                  <a:schemeClr val="bg1"/>
                </a:solidFill>
                <a:latin typeface="Arial" panose="020B0604020202020204" pitchFamily="34" charset="0"/>
                <a:cs typeface="Arial" panose="020B0604020202020204" pitchFamily="34" charset="0"/>
              </a:rPr>
              <a:t>e data challenges and ensure fair prediction.</a:t>
            </a:r>
          </a:p>
          <a:p>
            <a:endParaRPr lang="en-US" sz="2400" b="1">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015865"/>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rPr>
              <a:t>Technologies Used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Py</a:t>
            </a:r>
            <a:r>
              <a:rPr lang="en-US" sz="2400" b="1">
                <a:solidFill>
                  <a:schemeClr val="bg1"/>
                </a:solidFill>
                <a:latin typeface="Arial" panose="020B0604020202020204" pitchFamily="34" charset="0"/>
                <a:cs typeface="Arial" panose="020B0604020202020204" pitchFamily="34" charset="0"/>
              </a:rPr>
              <a:t>spark</a:t>
            </a:r>
            <a:r>
              <a:rPr lang="en-IN" altLang="en-US" sz="2400" b="1">
                <a:solidFill>
                  <a:schemeClr val="bg1"/>
                </a:solidFill>
                <a:latin typeface="Arial" panose="020B0604020202020204" pitchFamily="34" charset="0"/>
                <a:cs typeface="Arial" panose="020B0604020202020204" pitchFamily="34" charset="0"/>
              </a:rPr>
              <a:t> &amp; its ecosystem</a:t>
            </a:r>
            <a:endParaRPr lang="en-US" sz="2400" b="1">
              <a:solidFill>
                <a:schemeClr val="bg1"/>
              </a:solidFill>
              <a:latin typeface="Arial" panose="020B0604020202020204" pitchFamily="34" charset="0"/>
              <a:cs typeface="Arial" panose="020B0604020202020204" pitchFamily="34" charset="0"/>
            </a:endParaRPr>
          </a:p>
          <a:p>
            <a:endParaRPr lang="en-US" sz="2400" b="1">
              <a:solidFill>
                <a:schemeClr val="bg1"/>
              </a:solidFill>
              <a:latin typeface="Arial" panose="020B0604020202020204" pitchFamily="34" charset="0"/>
              <a:cs typeface="Arial" panose="020B0604020202020204" pitchFamily="34" charset="0"/>
            </a:endParaRPr>
          </a:p>
          <a:p>
            <a:r>
              <a:rPr lang="en-US" sz="2400" b="1">
                <a:solidFill>
                  <a:schemeClr val="bg1"/>
                </a:solidFill>
                <a:latin typeface="Arial" panose="020B0604020202020204" pitchFamily="34" charset="0"/>
                <a:cs typeface="Arial" panose="020B0604020202020204" pitchFamily="34" charset="0"/>
              </a:rPr>
              <a:t>Machine learning </a:t>
            </a:r>
          </a:p>
          <a:p>
            <a:endParaRPr 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Power BI</a:t>
            </a:r>
          </a:p>
          <a:p>
            <a:endParaRPr lang="en-IN" alt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FastAPI (Backend)</a:t>
            </a:r>
          </a:p>
          <a:p>
            <a:endParaRPr lang="en-IN" alt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HTML/CSS/JS (Frontend) </a:t>
            </a:r>
          </a:p>
          <a:p>
            <a:endParaRPr lang="en-US" sz="2400" b="1">
              <a:solidFill>
                <a:schemeClr val="bg1"/>
              </a:solidFill>
              <a:latin typeface="Arial" panose="020B0604020202020204" pitchFamily="34" charset="0"/>
              <a:cs typeface="Arial" panose="020B0604020202020204" pitchFamily="34" charset="0"/>
            </a:endParaRPr>
          </a:p>
          <a:p>
            <a:endParaRPr lang="en-US" sz="2400" b="1">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图片 5" descr="D:\dbda\datasets\Final dataset\Final cdac project\0_mUz78qrHdzmlGSkd.png0_mUz78qrHdzmlGSkd"/>
          <p:cNvPicPr>
            <a:picLocks noChangeAspect="1"/>
          </p:cNvPicPr>
          <p:nvPr/>
        </p:nvPicPr>
        <p:blipFill>
          <a:blip r:embed="rId2"/>
          <a:srcRect t="18973" b="2427"/>
          <a:stretch>
            <a:fillRect/>
          </a:stretch>
        </p:blipFill>
        <p:spPr>
          <a:xfrm>
            <a:off x="0" y="1714500"/>
            <a:ext cx="12192000" cy="2745105"/>
          </a:xfrm>
          <a:prstGeom prst="rect">
            <a:avLst/>
          </a:prstGeom>
          <a:noFill/>
          <a:ln w="9525">
            <a:noFill/>
          </a:ln>
        </p:spPr>
      </p:pic>
      <p:sp>
        <p:nvSpPr>
          <p:cNvPr id="10260" name="矩形 24"/>
          <p:cNvSpPr/>
          <p:nvPr/>
        </p:nvSpPr>
        <p:spPr>
          <a:xfrm>
            <a:off x="824230" y="5144135"/>
            <a:ext cx="10594975" cy="915035"/>
          </a:xfrm>
          <a:prstGeom prst="rect">
            <a:avLst/>
          </a:prstGeom>
          <a:noFill/>
          <a:ln w="9525">
            <a:noFill/>
          </a:ln>
        </p:spPr>
        <p:txBody>
          <a:bodyPr wrap="square" anchor="t" anchorCtr="0">
            <a:noAutofit/>
          </a:bodyPr>
          <a:lstStyle/>
          <a:p>
            <a:r>
              <a:rPr lang="en-US" altLang="en-US" sz="1200" dirty="0">
                <a:solidFill>
                  <a:schemeClr val="bg1"/>
                </a:solidFill>
                <a:latin typeface="Arial" panose="020B0604020202020204" pitchFamily="34" charset="0"/>
                <a:ea typeface="Arial" panose="020B0604020202020204" pitchFamily="34" charset="0"/>
              </a:rPr>
              <a:t>The project lifecycle for our insurance premium prediction model began with understanding the problem—how to accurately assess risk and set fair premiums. We then gathered and preprocessed a large dataset (~10 lakh rows), ensuring data quality and normalization. Feature selection using Lasso Regression helped identify the most relevant factors, followed by training XGBoost and LightGBM models to optimize predictions. Finally, we evaluated performance, compared models, and derived insights for real-world applications in the insurance industry.</a:t>
            </a:r>
          </a:p>
        </p:txBody>
      </p:sp>
      <p:sp>
        <p:nvSpPr>
          <p:cNvPr id="9217" name="文本框 128"/>
          <p:cNvSpPr txBox="1"/>
          <p:nvPr/>
        </p:nvSpPr>
        <p:spPr>
          <a:xfrm>
            <a:off x="173355" y="266700"/>
            <a:ext cx="5841365" cy="398780"/>
          </a:xfrm>
          <a:prstGeom prst="rect">
            <a:avLst/>
          </a:prstGeom>
          <a:noFill/>
          <a:ln w="9525">
            <a:noFill/>
          </a:ln>
        </p:spPr>
        <p:txBody>
          <a:bodyPr wrap="square" anchor="t" anchorCtr="0">
            <a:spAutoFit/>
          </a:bodyPr>
          <a:lstStyle/>
          <a:p>
            <a:r>
              <a:rPr lang="en-US" altLang="zh-CN" sz="2000" b="1" dirty="0">
                <a:solidFill>
                  <a:srgbClr val="FFFFFF"/>
                </a:solidFill>
                <a:latin typeface="Arial" panose="020B0604020202020204" pitchFamily="34" charset="0"/>
                <a:ea typeface="Arial" panose="020B0604020202020204" pitchFamily="34" charset="0"/>
              </a:rPr>
              <a:t>Machine Learning LifeCycle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4353560"/>
          </a:xfrm>
          <a:prstGeom prst="rect">
            <a:avLst/>
          </a:prstGeom>
          <a:noFill/>
        </p:spPr>
        <p:txBody>
          <a:bodyPr wrap="square" rtlCol="0">
            <a:noAutofit/>
          </a:bodyPr>
          <a:lstStyle/>
          <a:p>
            <a:r>
              <a:rPr lang="en-IN" altLang="en-US" sz="3200" b="1">
                <a:solidFill>
                  <a:schemeClr val="bg1"/>
                </a:solidFill>
                <a:latin typeface="Arial" panose="020B0604020202020204" pitchFamily="34" charset="0"/>
                <a:cs typeface="Arial" panose="020B0604020202020204" pitchFamily="34" charset="0"/>
              </a:rPr>
              <a:t>Data Preprocessing</a:t>
            </a:r>
            <a:r>
              <a:rPr lang="en-US" sz="3200" b="1">
                <a:solidFill>
                  <a:schemeClr val="bg1"/>
                </a:solidFill>
                <a:latin typeface="Arial" panose="020B0604020202020204" pitchFamily="34" charset="0"/>
                <a:cs typeface="Arial" panose="020B0604020202020204" pitchFamily="34" charset="0"/>
              </a:rPr>
              <a:t> </a:t>
            </a:r>
            <a:r>
              <a:rPr lang="en-IN" altLang="en-US" sz="3200" b="1">
                <a:solidFill>
                  <a:schemeClr val="bg1"/>
                </a:solidFill>
                <a:latin typeface="Arial" panose="020B0604020202020204" pitchFamily="34" charset="0"/>
                <a:cs typeface="Arial" panose="020B0604020202020204" pitchFamily="34" charset="0"/>
              </a:rPr>
              <a:t>(Pyspark)</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Data cleaning</a:t>
            </a:r>
          </a:p>
          <a:p>
            <a:endParaRPr lang="en-US" alt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rPr>
              <a:t>Null value removal</a:t>
            </a:r>
          </a:p>
          <a:p>
            <a:endParaRPr lang="en-US" altLang="en-US" sz="2400" b="1">
              <a:solidFill>
                <a:schemeClr val="bg1"/>
              </a:solidFill>
              <a:latin typeface="Arial" panose="020B0604020202020204" pitchFamily="34" charset="0"/>
              <a:cs typeface="Arial" panose="020B0604020202020204" pitchFamily="34" charset="0"/>
            </a:endParaRPr>
          </a:p>
          <a:p>
            <a:r>
              <a:rPr lang="en-IN" altLang="en-US" sz="2400" b="1">
                <a:solidFill>
                  <a:schemeClr val="bg1"/>
                </a:solidFill>
                <a:latin typeface="Arial" panose="020B0604020202020204" pitchFamily="34" charset="0"/>
                <a:cs typeface="Arial" panose="020B0604020202020204" pitchFamily="34" charset="0"/>
                <a:sym typeface="+mn-ea"/>
              </a:rPr>
              <a:t>Label Encoding</a:t>
            </a:r>
          </a:p>
          <a:p>
            <a:endParaRPr lang="en-IN" altLang="en-US" sz="2400" b="1">
              <a:solidFill>
                <a:schemeClr val="bg1"/>
              </a:solidFill>
              <a:latin typeface="Arial" panose="020B0604020202020204" pitchFamily="34" charset="0"/>
              <a:cs typeface="Arial" panose="020B0604020202020204" pitchFamily="34" charset="0"/>
              <a:sym typeface="+mn-ea"/>
            </a:endParaRPr>
          </a:p>
          <a:p>
            <a:endParaRPr lang="en-IN" altLang="en-US" sz="2400" b="1">
              <a:solidFill>
                <a:schemeClr val="bg1"/>
              </a:solidFill>
              <a:latin typeface="Arial" panose="020B0604020202020204" pitchFamily="34" charset="0"/>
              <a:cs typeface="Arial" panose="020B0604020202020204" pitchFamily="3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4353560"/>
          </a:xfrm>
          <a:prstGeom prst="rect">
            <a:avLst/>
          </a:prstGeom>
          <a:noFill/>
        </p:spPr>
        <p:txBody>
          <a:bodyPr wrap="square" rtlCol="0">
            <a:noAutofit/>
          </a:bodyPr>
          <a:lstStyle/>
          <a:p>
            <a:r>
              <a:rPr sz="3200" b="1">
                <a:solidFill>
                  <a:schemeClr val="bg1"/>
                </a:solidFill>
                <a:latin typeface="Arial" panose="020B0604020202020204" pitchFamily="34" charset="0"/>
                <a:cs typeface="Arial" panose="020B0604020202020204" pitchFamily="34" charset="0"/>
                <a:sym typeface="+mn-ea"/>
              </a:rPr>
              <a:t>Exploratory Data Analysis (EDA)</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r>
              <a:rPr sz="2400" b="1">
                <a:solidFill>
                  <a:schemeClr val="bg1"/>
                </a:solidFill>
                <a:latin typeface="Arial" panose="020B0604020202020204" pitchFamily="34" charset="0"/>
                <a:cs typeface="Arial" panose="020B0604020202020204" pitchFamily="34" charset="0"/>
                <a:sym typeface="+mn-ea"/>
              </a:rPr>
              <a:t>Data Visualization: </a:t>
            </a:r>
            <a:r>
              <a:rPr sz="2400">
                <a:solidFill>
                  <a:schemeClr val="bg1"/>
                </a:solidFill>
                <a:latin typeface="Arial" panose="020B0604020202020204" pitchFamily="34" charset="0"/>
                <a:cs typeface="Arial" panose="020B0604020202020204" pitchFamily="34" charset="0"/>
                <a:sym typeface="+mn-ea"/>
              </a:rPr>
              <a:t>Histograms, scatter plots to check distributions</a:t>
            </a:r>
            <a:endParaRPr sz="2400" b="1">
              <a:solidFill>
                <a:schemeClr val="bg1"/>
              </a:solidFill>
              <a:latin typeface="Arial" panose="020B0604020202020204" pitchFamily="34" charset="0"/>
              <a:cs typeface="Arial" panose="020B0604020202020204" pitchFamily="34" charset="0"/>
              <a:sym typeface="+mn-ea"/>
            </a:endParaRPr>
          </a:p>
          <a:p>
            <a:endParaRPr lang="en-US" altLang="en-US" sz="2400" b="1">
              <a:solidFill>
                <a:schemeClr val="bg1"/>
              </a:solidFill>
              <a:latin typeface="Arial" panose="020B0604020202020204" pitchFamily="34" charset="0"/>
              <a:cs typeface="Arial" panose="020B0604020202020204" pitchFamily="34" charset="0"/>
            </a:endParaRPr>
          </a:p>
          <a:p>
            <a:r>
              <a:rPr sz="2400" b="1">
                <a:solidFill>
                  <a:schemeClr val="bg1"/>
                </a:solidFill>
                <a:latin typeface="Arial" panose="020B0604020202020204" pitchFamily="34" charset="0"/>
                <a:cs typeface="Arial" panose="020B0604020202020204" pitchFamily="34" charset="0"/>
                <a:sym typeface="+mn-ea"/>
              </a:rPr>
              <a:t>Correlation Analysis: </a:t>
            </a:r>
            <a:r>
              <a:rPr sz="2400">
                <a:solidFill>
                  <a:schemeClr val="bg1"/>
                </a:solidFill>
                <a:latin typeface="Arial" panose="020B0604020202020204" pitchFamily="34" charset="0"/>
                <a:cs typeface="Arial" panose="020B0604020202020204" pitchFamily="34" charset="0"/>
                <a:sym typeface="+mn-ea"/>
              </a:rPr>
              <a:t>Checking relationships between features.</a:t>
            </a:r>
            <a:endParaRPr sz="2400" b="1">
              <a:solidFill>
                <a:schemeClr val="bg1"/>
              </a:solidFill>
              <a:latin typeface="Arial" panose="020B0604020202020204" pitchFamily="34" charset="0"/>
              <a:cs typeface="Arial" panose="020B0604020202020204" pitchFamily="34" charset="0"/>
              <a:sym typeface="+mn-ea"/>
            </a:endParaRPr>
          </a:p>
          <a:p>
            <a:endParaRPr lang="en-US" altLang="en-US" sz="2400" b="1">
              <a:solidFill>
                <a:schemeClr val="bg1"/>
              </a:solidFill>
              <a:latin typeface="Arial" panose="020B0604020202020204" pitchFamily="34" charset="0"/>
              <a:cs typeface="Arial" panose="020B0604020202020204" pitchFamily="34" charset="0"/>
            </a:endParaRPr>
          </a:p>
          <a:p>
            <a:r>
              <a:rPr sz="2400" b="1">
                <a:solidFill>
                  <a:schemeClr val="bg1"/>
                </a:solidFill>
                <a:latin typeface="Arial" panose="020B0604020202020204" pitchFamily="34" charset="0"/>
                <a:cs typeface="Arial" panose="020B0604020202020204" pitchFamily="34" charset="0"/>
                <a:sym typeface="+mn-ea"/>
              </a:rPr>
              <a:t>Multicollinearity Test: </a:t>
            </a:r>
            <a:r>
              <a:rPr sz="2400">
                <a:solidFill>
                  <a:schemeClr val="bg1"/>
                </a:solidFill>
                <a:latin typeface="Arial" panose="020B0604020202020204" pitchFamily="34" charset="0"/>
                <a:cs typeface="Arial" panose="020B0604020202020204" pitchFamily="34" charset="0"/>
                <a:sym typeface="+mn-ea"/>
              </a:rPr>
              <a:t>Using VIF to detect redundant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3446145"/>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rPr>
              <a:t>Feature Selection/Transformation :</a:t>
            </a:r>
            <a:r>
              <a:rPr lang="en-US" sz="2400" b="1">
                <a:solidFill>
                  <a:schemeClr val="bg1"/>
                </a:solidFill>
                <a:latin typeface="Arial" panose="020B0604020202020204" pitchFamily="34" charset="0"/>
                <a:cs typeface="Arial" panose="020B0604020202020204" pitchFamily="34" charset="0"/>
              </a:rPr>
              <a:t> </a:t>
            </a:r>
            <a:endParaRPr lang="en-US" altLang="en-US" sz="1600">
              <a:solidFill>
                <a:schemeClr val="bg1"/>
              </a:solidFill>
              <a:latin typeface="Arial" panose="020B0604020202020204" pitchFamily="34" charset="0"/>
              <a:cs typeface="Arial" panose="020B0604020202020204" pitchFamily="34" charset="0"/>
            </a:endParaRPr>
          </a:p>
          <a:p>
            <a:r>
              <a:rPr lang="en-US" altLang="en-US" sz="1800">
                <a:solidFill>
                  <a:schemeClr val="bg1"/>
                </a:solidFill>
                <a:latin typeface="Arial" panose="020B0604020202020204" pitchFamily="34" charset="0"/>
                <a:cs typeface="Arial" panose="020B0604020202020204" pitchFamily="34" charset="0"/>
              </a:rPr>
              <a:t>Variance was not present in the data, so Log Transform and Power Transformation did not work as variance remained unchanged.</a:t>
            </a:r>
          </a:p>
          <a:p>
            <a:endParaRPr lang="en-US" altLang="en-US" sz="1800">
              <a:solidFill>
                <a:schemeClr val="bg1"/>
              </a:solidFill>
              <a:latin typeface="Arial" panose="020B0604020202020204" pitchFamily="34" charset="0"/>
              <a:cs typeface="Arial" panose="020B0604020202020204" pitchFamily="34" charset="0"/>
            </a:endParaRPr>
          </a:p>
          <a:p>
            <a:r>
              <a:rPr lang="en-US" altLang="en-US" sz="1800">
                <a:solidFill>
                  <a:schemeClr val="bg1"/>
                </a:solidFill>
                <a:latin typeface="Arial" panose="020B0604020202020204" pitchFamily="34" charset="0"/>
                <a:cs typeface="Arial" panose="020B0604020202020204" pitchFamily="34" charset="0"/>
              </a:rPr>
              <a:t>To address this, we applied business assumptions and scaled the data accordingly.</a:t>
            </a:r>
          </a:p>
          <a:p>
            <a:endParaRPr sz="2400" b="1">
              <a:solidFill>
                <a:schemeClr val="bg1"/>
              </a:solidFill>
              <a:latin typeface="Arial" panose="020B0604020202020204" pitchFamily="34" charset="0"/>
              <a:cs typeface="Arial" panose="020B0604020202020204" pitchFamily="34" charset="0"/>
              <a:sym typeface="+mn-ea"/>
            </a:endParaRPr>
          </a:p>
          <a:p>
            <a:r>
              <a:rPr sz="2400" b="1">
                <a:solidFill>
                  <a:schemeClr val="bg1"/>
                </a:solidFill>
                <a:latin typeface="Arial" panose="020B0604020202020204" pitchFamily="34" charset="0"/>
                <a:cs typeface="Arial" panose="020B0604020202020204" pitchFamily="34" charset="0"/>
                <a:sym typeface="+mn-ea"/>
              </a:rPr>
              <a:t>Scaling</a:t>
            </a:r>
            <a:r>
              <a:rPr sz="2400">
                <a:solidFill>
                  <a:schemeClr val="bg1"/>
                </a:solidFill>
                <a:latin typeface="Arial" panose="020B0604020202020204" pitchFamily="34" charset="0"/>
                <a:cs typeface="Arial" panose="020B0604020202020204" pitchFamily="34" charset="0"/>
                <a:sym typeface="+mn-ea"/>
              </a:rPr>
              <a:t>: </a:t>
            </a:r>
            <a:r>
              <a:rPr lang="en-IN" sz="2400">
                <a:solidFill>
                  <a:schemeClr val="bg1"/>
                </a:solidFill>
                <a:latin typeface="Arial" panose="020B0604020202020204" pitchFamily="34" charset="0"/>
                <a:cs typeface="Arial" panose="020B0604020202020204" pitchFamily="34" charset="0"/>
                <a:sym typeface="+mn-ea"/>
              </a:rPr>
              <a:t>Custom Scaling according business requirements</a:t>
            </a:r>
            <a:endParaRPr sz="2400">
              <a:solidFill>
                <a:schemeClr val="bg1"/>
              </a:solidFill>
              <a:latin typeface="Arial" panose="020B0604020202020204" pitchFamily="34" charset="0"/>
              <a:cs typeface="Arial" panose="020B0604020202020204" pitchFamily="34" charset="0"/>
              <a:sym typeface="+mn-ea"/>
            </a:endParaRPr>
          </a:p>
          <a:p>
            <a:endParaRPr lang="en-US" altLang="en-US" sz="2400" b="1">
              <a:solidFill>
                <a:schemeClr val="bg1"/>
              </a:solidFill>
              <a:latin typeface="Arial" panose="020B0604020202020204" pitchFamily="34" charset="0"/>
              <a:cs typeface="Arial" panose="020B060402020202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8489315" cy="4399915"/>
          </a:xfrm>
          <a:prstGeom prst="rect">
            <a:avLst/>
          </a:prstGeom>
          <a:noFill/>
        </p:spPr>
        <p:txBody>
          <a:bodyPr wrap="square" rtlCol="0">
            <a:spAutoFit/>
          </a:bodyPr>
          <a:lstStyle/>
          <a:p>
            <a:r>
              <a:rPr lang="en-US" altLang="en-US" sz="3200" b="1">
                <a:solidFill>
                  <a:schemeClr val="bg1"/>
                </a:solidFill>
                <a:latin typeface="Arial" panose="020B0604020202020204" pitchFamily="34" charset="0"/>
                <a:cs typeface="Arial" panose="020B0604020202020204" pitchFamily="34" charset="0"/>
              </a:rPr>
              <a:t>Business Assumptions for Scaling</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endParaRPr lang="en-US" altLang="en-US" sz="1600">
              <a:solidFill>
                <a:schemeClr val="bg1"/>
              </a:solidFill>
              <a:latin typeface="Arial" panose="020B0604020202020204" pitchFamily="34" charset="0"/>
              <a:cs typeface="Arial" panose="020B0604020202020204" pitchFamily="34" charset="0"/>
            </a:endParaRPr>
          </a:p>
          <a:p>
            <a:endParaRPr lang="en-US" altLang="en-US" sz="2400" b="1">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600">
                <a:solidFill>
                  <a:schemeClr val="bg1"/>
                </a:solidFill>
                <a:latin typeface="Arial" panose="020B0604020202020204" pitchFamily="34" charset="0"/>
                <a:cs typeface="Arial" panose="020B0604020202020204" pitchFamily="34" charset="0"/>
                <a:sym typeface="+mn-ea"/>
              </a:rPr>
              <a:t>Higher Income → Lower Risk → Lower Premium</a:t>
            </a:r>
          </a:p>
          <a:p>
            <a:endParaRPr lang="en-US" altLang="en-US" sz="16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600">
                <a:solidFill>
                  <a:schemeClr val="bg1"/>
                </a:solidFill>
                <a:latin typeface="Arial" panose="020B0604020202020204" pitchFamily="34" charset="0"/>
                <a:cs typeface="Arial" panose="020B0604020202020204" pitchFamily="34" charset="0"/>
                <a:sym typeface="+mn-ea"/>
              </a:rPr>
              <a:t>Higher Health Score → Lower Risk → Lower Premium</a:t>
            </a:r>
          </a:p>
          <a:p>
            <a:endParaRPr lang="en-US" altLang="en-US" sz="16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600">
                <a:solidFill>
                  <a:schemeClr val="bg1"/>
                </a:solidFill>
                <a:latin typeface="Arial" panose="020B0604020202020204" pitchFamily="34" charset="0"/>
                <a:cs typeface="Arial" panose="020B0604020202020204" pitchFamily="34" charset="0"/>
                <a:sym typeface="+mn-ea"/>
              </a:rPr>
              <a:t>Lower Credit Score → Higher Risk → Higher Premium</a:t>
            </a:r>
          </a:p>
          <a:p>
            <a:endParaRPr lang="en-US" altLang="en-US" sz="16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600" b="1">
                <a:solidFill>
                  <a:schemeClr val="bg1"/>
                </a:solidFill>
                <a:latin typeface="Arial" panose="020B0604020202020204" pitchFamily="34" charset="0"/>
                <a:cs typeface="Arial" panose="020B0604020202020204" pitchFamily="34" charset="0"/>
                <a:sym typeface="+mn-ea"/>
              </a:rPr>
              <a:t>Age-Based Risk &amp; Premium Structure</a:t>
            </a:r>
            <a:r>
              <a:rPr lang="en-US" altLang="en-US" sz="1600">
                <a:solidFill>
                  <a:schemeClr val="bg1"/>
                </a:solidFill>
                <a:latin typeface="Arial" panose="020B0604020202020204" pitchFamily="34" charset="0"/>
                <a:cs typeface="Arial" panose="020B0604020202020204" pitchFamily="34" charset="0"/>
                <a:sym typeface="+mn-ea"/>
              </a:rPr>
              <a:t>:</a:t>
            </a:r>
          </a:p>
          <a:p>
            <a:endParaRPr lang="en-US" altLang="en-US" sz="1600">
              <a:solidFill>
                <a:schemeClr val="bg1"/>
              </a:solidFill>
              <a:latin typeface="Arial" panose="020B0604020202020204" pitchFamily="34" charset="0"/>
              <a:cs typeface="Arial" panose="020B0604020202020204" pitchFamily="34" charset="0"/>
              <a:sym typeface="+mn-ea"/>
            </a:endParaRPr>
          </a:p>
          <a:p>
            <a:pPr marL="342900" indent="-342900">
              <a:buAutoNum type="arabicPeriod"/>
            </a:pPr>
            <a:r>
              <a:rPr lang="en-US" altLang="en-US" sz="1600">
                <a:solidFill>
                  <a:schemeClr val="bg1"/>
                </a:solidFill>
                <a:latin typeface="Arial" panose="020B0604020202020204" pitchFamily="34" charset="0"/>
                <a:cs typeface="Arial" panose="020B0604020202020204" pitchFamily="34" charset="0"/>
                <a:sym typeface="+mn-ea"/>
              </a:rPr>
              <a:t>Older Individuals → Higher Risk → Higher Premium</a:t>
            </a:r>
          </a:p>
          <a:p>
            <a:endParaRPr lang="en-US" altLang="en-US" sz="1600">
              <a:solidFill>
                <a:schemeClr val="bg1"/>
              </a:solidFill>
              <a:latin typeface="Arial" panose="020B0604020202020204" pitchFamily="34" charset="0"/>
              <a:cs typeface="Arial" panose="020B0604020202020204" pitchFamily="34" charset="0"/>
              <a:sym typeface="+mn-ea"/>
            </a:endParaRPr>
          </a:p>
          <a:p>
            <a:r>
              <a:rPr lang="en-IN" altLang="en-US" sz="1600">
                <a:solidFill>
                  <a:schemeClr val="bg1"/>
                </a:solidFill>
                <a:latin typeface="Arial" panose="020B0604020202020204" pitchFamily="34" charset="0"/>
                <a:cs typeface="Arial" panose="020B0604020202020204" pitchFamily="34" charset="0"/>
                <a:sym typeface="+mn-ea"/>
              </a:rPr>
              <a:t>2.   </a:t>
            </a:r>
            <a:r>
              <a:rPr lang="en-US" altLang="en-US" sz="1600">
                <a:solidFill>
                  <a:schemeClr val="bg1"/>
                </a:solidFill>
                <a:latin typeface="Arial" panose="020B0604020202020204" pitchFamily="34" charset="0"/>
                <a:cs typeface="Arial" panose="020B0604020202020204" pitchFamily="34" charset="0"/>
                <a:sym typeface="+mn-ea"/>
              </a:rPr>
              <a:t>Younger Individuals → Not Earning Enough → Higher Risk → Higher Premium</a:t>
            </a:r>
          </a:p>
          <a:p>
            <a:endParaRPr lang="en-US" altLang="en-US" sz="1600">
              <a:solidFill>
                <a:schemeClr val="bg1"/>
              </a:solidFill>
              <a:latin typeface="Arial" panose="020B0604020202020204" pitchFamily="34" charset="0"/>
              <a:cs typeface="Arial" panose="020B0604020202020204" pitchFamily="34" charset="0"/>
              <a:sym typeface="+mn-ea"/>
            </a:endParaRPr>
          </a:p>
          <a:p>
            <a:r>
              <a:rPr lang="en-IN" altLang="en-US" sz="1600">
                <a:solidFill>
                  <a:schemeClr val="bg1"/>
                </a:solidFill>
                <a:latin typeface="Arial" panose="020B0604020202020204" pitchFamily="34" charset="0"/>
                <a:cs typeface="Arial" panose="020B0604020202020204" pitchFamily="34" charset="0"/>
                <a:sym typeface="+mn-ea"/>
              </a:rPr>
              <a:t>3.   </a:t>
            </a:r>
            <a:r>
              <a:rPr lang="en-US" altLang="en-US" sz="1600">
                <a:solidFill>
                  <a:schemeClr val="bg1"/>
                </a:solidFill>
                <a:latin typeface="Arial" panose="020B0604020202020204" pitchFamily="34" charset="0"/>
                <a:cs typeface="Arial" panose="020B0604020202020204" pitchFamily="34" charset="0"/>
                <a:sym typeface="+mn-ea"/>
              </a:rPr>
              <a:t>Middle-Aged Individuals → Stable Earnings &amp; Good Health → Lower Risk → Lower </a:t>
            </a:r>
            <a:r>
              <a:rPr lang="en-IN" altLang="en-US" sz="1600">
                <a:solidFill>
                  <a:schemeClr val="bg1"/>
                </a:solidFill>
                <a:latin typeface="Arial" panose="020B0604020202020204" pitchFamily="34" charset="0"/>
                <a:cs typeface="Arial" panose="020B0604020202020204" pitchFamily="34" charset="0"/>
                <a:sym typeface="+mn-ea"/>
              </a:rPr>
              <a:t>	</a:t>
            </a:r>
            <a:r>
              <a:rPr lang="en-US" altLang="en-US" sz="1600">
                <a:solidFill>
                  <a:schemeClr val="bg1"/>
                </a:solidFill>
                <a:latin typeface="Arial" panose="020B0604020202020204" pitchFamily="34" charset="0"/>
                <a:cs typeface="Arial" panose="020B0604020202020204" pitchFamily="34" charset="0"/>
                <a:sym typeface="+mn-ea"/>
              </a:rPr>
              <a:t>Premium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lang="en-IN" altLang="zh-C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rPr>
              <a:t>Model Scaling Using assumptions</a:t>
            </a: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Content Placeholder 1" descr="Annual Income vs Premium Amount"/>
          <p:cNvPicPr>
            <a:picLocks noGrp="1" noChangeAspect="1"/>
          </p:cNvPicPr>
          <p:nvPr>
            <p:ph idx="1"/>
          </p:nvPr>
        </p:nvPicPr>
        <p:blipFill>
          <a:blip r:embed="rId2"/>
          <a:stretch>
            <a:fillRect/>
          </a:stretch>
        </p:blipFill>
        <p:spPr>
          <a:xfrm>
            <a:off x="173355" y="1253490"/>
            <a:ext cx="5801995" cy="435165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365" y="1216016"/>
            <a:ext cx="5852172" cy="43891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lang="en-IN" altLang="zh-C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rPr>
              <a:t>Model Scaling Using assumptions</a:t>
            </a: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Content Placeholder 1" descr="D:\dbda\datasets\Final dataset\Final cdac project\Age vs Premium Amount.pngAge vs Premium Amount"/>
          <p:cNvPicPr>
            <a:picLocks noGrp="1" noChangeAspect="1"/>
          </p:cNvPicPr>
          <p:nvPr>
            <p:ph idx="1"/>
          </p:nvPr>
        </p:nvPicPr>
        <p:blipFill>
          <a:blip r:embed="rId2"/>
          <a:srcRect l="7" r="7"/>
          <a:stretch>
            <a:fillRect/>
          </a:stretch>
        </p:blipFill>
        <p:spPr>
          <a:xfrm>
            <a:off x="173355" y="1252855"/>
            <a:ext cx="5801995" cy="435165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660" y="1252855"/>
            <a:ext cx="5852172" cy="43891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lang="en-IN" altLang="zh-C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rPr>
              <a:t>Model Scaling Using assumptions</a:t>
            </a: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Content Placeholder 1" descr="D:\dbda\datasets\Final dataset\Final cdac project\Credit Score vs Premium Amount.pngCredit Score vs Premium Amount"/>
          <p:cNvPicPr>
            <a:picLocks noGrp="1" noChangeAspect="1"/>
          </p:cNvPicPr>
          <p:nvPr>
            <p:ph idx="1"/>
          </p:nvPr>
        </p:nvPicPr>
        <p:blipFill>
          <a:blip r:embed="rId2"/>
          <a:srcRect l="7" r="7"/>
          <a:stretch>
            <a:fillRect/>
          </a:stretch>
        </p:blipFill>
        <p:spPr>
          <a:xfrm>
            <a:off x="233362" y="1252855"/>
            <a:ext cx="5801995" cy="435165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717" y="1252855"/>
            <a:ext cx="5852172" cy="43891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lang="en-IN" altLang="zh-C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rPr>
              <a:t>Model Scaling Using assumptions</a:t>
            </a: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Content Placeholder 1" descr="D:\dbda\datasets\Final dataset\Final cdac project\Health vs Premium Amount.pngHealth vs Premium Amount"/>
          <p:cNvPicPr>
            <a:picLocks noGrp="1" noChangeAspect="1"/>
          </p:cNvPicPr>
          <p:nvPr>
            <p:ph idx="1"/>
          </p:nvPr>
        </p:nvPicPr>
        <p:blipFill>
          <a:blip r:embed="rId2"/>
          <a:srcRect l="7" r="7"/>
          <a:stretch>
            <a:fillRect/>
          </a:stretch>
        </p:blipFill>
        <p:spPr>
          <a:xfrm>
            <a:off x="173355" y="1233805"/>
            <a:ext cx="5801995" cy="435165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3364" y="1233805"/>
            <a:ext cx="5852172" cy="43891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lang="en-IN" altLang="zh-C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rPr>
              <a:t>Model Scaling Using assumptions</a:t>
            </a: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Content Placeholder 1" descr="D:\dbda\datasets\Final dataset\Final cdac project\Previous_Claims vs Premium Amount.pngPrevious_Claims vs Premium Amount"/>
          <p:cNvPicPr>
            <a:picLocks noGrp="1" noChangeAspect="1"/>
          </p:cNvPicPr>
          <p:nvPr>
            <p:ph idx="1"/>
          </p:nvPr>
        </p:nvPicPr>
        <p:blipFill>
          <a:blip r:embed="rId2"/>
          <a:srcRect l="7" r="7"/>
          <a:stretch>
            <a:fillRect/>
          </a:stretch>
        </p:blipFill>
        <p:spPr>
          <a:xfrm>
            <a:off x="173355" y="1233805"/>
            <a:ext cx="5801995" cy="435165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716" y="1233805"/>
            <a:ext cx="5852172" cy="43891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723890"/>
          </a:xfrm>
          <a:prstGeom prst="rect">
            <a:avLst/>
          </a:prstGeom>
          <a:noFill/>
        </p:spPr>
        <p:txBody>
          <a:bodyPr wrap="square" rtlCol="0">
            <a:spAutoFit/>
          </a:bodyPr>
          <a:lstStyle/>
          <a:p>
            <a:r>
              <a:rPr sz="3200" b="1">
                <a:solidFill>
                  <a:schemeClr val="bg1"/>
                </a:solidFill>
                <a:latin typeface="Arial" panose="020B0604020202020204" pitchFamily="34" charset="0"/>
                <a:cs typeface="Arial" panose="020B0604020202020204" pitchFamily="34" charset="0"/>
                <a:sym typeface="+mn-ea"/>
              </a:rPr>
              <a:t>Model Training - </a:t>
            </a:r>
            <a:r>
              <a:rPr lang="en-IN" sz="3200" b="1">
                <a:solidFill>
                  <a:schemeClr val="bg1"/>
                </a:solidFill>
                <a:latin typeface="Arial" panose="020B0604020202020204" pitchFamily="34" charset="0"/>
                <a:cs typeface="Arial" panose="020B0604020202020204" pitchFamily="34" charset="0"/>
                <a:sym typeface="+mn-ea"/>
              </a:rPr>
              <a:t>Linear</a:t>
            </a:r>
            <a:r>
              <a:rPr sz="3200" b="1">
                <a:solidFill>
                  <a:schemeClr val="bg1"/>
                </a:solidFill>
                <a:latin typeface="Arial" panose="020B0604020202020204" pitchFamily="34" charset="0"/>
                <a:cs typeface="Arial" panose="020B0604020202020204" pitchFamily="34" charset="0"/>
                <a:sym typeface="+mn-ea"/>
              </a:rPr>
              <a:t> Regression</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altLang="en-US" sz="1600">
              <a:solidFill>
                <a:schemeClr val="bg1"/>
              </a:solidFill>
              <a:latin typeface="Arial" panose="020B0604020202020204" pitchFamily="34" charset="0"/>
              <a:cs typeface="Arial" panose="020B0604020202020204" pitchFamily="34" charset="0"/>
            </a:endParaRPr>
          </a:p>
          <a:p>
            <a:pPr marL="285750" indent="-285750" algn="l">
              <a:buClrTx/>
              <a:buSzTx/>
              <a:buFont typeface="Arial" panose="020B0604020202020204" pitchFamily="34" charset="0"/>
              <a:buChar char="•"/>
            </a:pPr>
            <a:r>
              <a:rPr lang="en-US" altLang="en-US" sz="1800">
                <a:solidFill>
                  <a:schemeClr val="bg1"/>
                </a:solidFill>
                <a:latin typeface="Arial" panose="020B0604020202020204" pitchFamily="34" charset="0"/>
                <a:cs typeface="Arial" panose="020B0604020202020204" pitchFamily="34" charset="0"/>
                <a:sym typeface="+mn-ea"/>
              </a:rPr>
              <a:t>Used as a baseline model to predict insurance premiums.</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lgn="l">
              <a:buClrTx/>
              <a:buSzTx/>
              <a:buFont typeface="Arial" panose="020B0604020202020204" pitchFamily="34" charset="0"/>
              <a:buChar char="•"/>
            </a:pPr>
            <a:r>
              <a:rPr lang="en-US" altLang="en-US" sz="1800">
                <a:solidFill>
                  <a:schemeClr val="bg1"/>
                </a:solidFill>
                <a:latin typeface="Arial" panose="020B0604020202020204" pitchFamily="34" charset="0"/>
                <a:cs typeface="Arial" panose="020B0604020202020204" pitchFamily="34" charset="0"/>
                <a:sym typeface="+mn-ea"/>
              </a:rPr>
              <a:t>Assumes a linear relationship between features and premium amount.</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lgn="l">
              <a:buClrTx/>
              <a:buSzTx/>
              <a:buFont typeface="Arial" panose="020B0604020202020204" pitchFamily="34" charset="0"/>
              <a:buChar char="•"/>
            </a:pPr>
            <a:r>
              <a:rPr lang="en-US" altLang="en-US" sz="1800" b="1">
                <a:solidFill>
                  <a:schemeClr val="bg1"/>
                </a:solidFill>
                <a:latin typeface="Arial" panose="020B0604020202020204" pitchFamily="34" charset="0"/>
                <a:cs typeface="Arial" panose="020B0604020202020204" pitchFamily="34" charset="0"/>
                <a:sym typeface="+mn-ea"/>
              </a:rPr>
              <a:t>Limitations</a:t>
            </a:r>
            <a:r>
              <a:rPr lang="en-US" altLang="en-US" sz="1800">
                <a:solidFill>
                  <a:schemeClr val="bg1"/>
                </a:solidFill>
                <a:latin typeface="Arial" panose="020B0604020202020204" pitchFamily="34" charset="0"/>
                <a:cs typeface="Arial" panose="020B0604020202020204" pitchFamily="34" charset="0"/>
                <a:sym typeface="+mn-ea"/>
              </a:rPr>
              <a:t>:</a:t>
            </a:r>
          </a:p>
          <a:p>
            <a:pPr algn="l">
              <a:buClrTx/>
              <a:buSzTx/>
              <a:buFont typeface="Arial" panose="020B0604020202020204" pitchFamily="34" charset="0"/>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lgn="l">
              <a:buClrTx/>
              <a:buSzTx/>
              <a:buFontTx/>
            </a:pPr>
            <a:r>
              <a:rPr lang="en-US" altLang="en-US" sz="1800">
                <a:solidFill>
                  <a:schemeClr val="bg1"/>
                </a:solidFill>
                <a:latin typeface="Arial" panose="020B0604020202020204" pitchFamily="34" charset="0"/>
                <a:cs typeface="Arial" panose="020B0604020202020204" pitchFamily="34" charset="0"/>
                <a:sym typeface="+mn-ea"/>
              </a:rPr>
              <a:t>Could not capture complex, nonlinear relationships in the data.</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lgn="l">
              <a:buClrTx/>
              <a:buSzTx/>
              <a:buFontTx/>
            </a:pPr>
            <a:r>
              <a:rPr lang="en-US" altLang="en-US" sz="1800">
                <a:solidFill>
                  <a:schemeClr val="bg1"/>
                </a:solidFill>
                <a:latin typeface="Arial" panose="020B0604020202020204" pitchFamily="34" charset="0"/>
                <a:cs typeface="Arial" panose="020B0604020202020204" pitchFamily="34" charset="0"/>
                <a:sym typeface="+mn-ea"/>
              </a:rPr>
              <a:t>Sensitive to multicollinearity, affecting coefficient stability.</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lgn="l">
              <a:buClrTx/>
              <a:buSzTx/>
              <a:buFont typeface="Arial" panose="020B0604020202020204" pitchFamily="34" charset="0"/>
              <a:buChar char="•"/>
            </a:pPr>
            <a:r>
              <a:rPr lang="en-US" altLang="en-US" sz="1800" b="1">
                <a:solidFill>
                  <a:schemeClr val="bg1"/>
                </a:solidFill>
                <a:latin typeface="Arial" panose="020B0604020202020204" pitchFamily="34" charset="0"/>
                <a:cs typeface="Arial" panose="020B0604020202020204" pitchFamily="34" charset="0"/>
                <a:sym typeface="+mn-ea"/>
              </a:rPr>
              <a:t>Findings</a:t>
            </a:r>
            <a:r>
              <a:rPr lang="en-US" altLang="en-US" sz="1800">
                <a:solidFill>
                  <a:schemeClr val="bg1"/>
                </a:solidFill>
                <a:latin typeface="Arial" panose="020B0604020202020204" pitchFamily="34" charset="0"/>
                <a:cs typeface="Arial" panose="020B0604020202020204" pitchFamily="34" charset="0"/>
                <a:sym typeface="+mn-ea"/>
              </a:rPr>
              <a:t>:</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lgn="l">
              <a:buClrTx/>
              <a:buSzTx/>
              <a:buFontTx/>
            </a:pPr>
            <a:r>
              <a:rPr lang="en-US" altLang="en-US" sz="1800">
                <a:solidFill>
                  <a:schemeClr val="bg1"/>
                </a:solidFill>
                <a:latin typeface="Arial" panose="020B0604020202020204" pitchFamily="34" charset="0"/>
                <a:cs typeface="Arial" panose="020B0604020202020204" pitchFamily="34" charset="0"/>
                <a:sym typeface="+mn-ea"/>
              </a:rPr>
              <a:t>Provided an initial benchmark but performed worse than tree-based models like XGBoost and CatBoost.</a:t>
            </a:r>
          </a:p>
          <a:p>
            <a:pPr algn="l">
              <a:buClrTx/>
              <a:buSzTx/>
              <a:buFontTx/>
            </a:pPr>
            <a:endParaRPr sz="2400" b="1">
              <a:solidFill>
                <a:schemeClr val="bg1"/>
              </a:solidFill>
              <a:latin typeface="Arial" panose="020B0604020202020204" pitchFamily="34" charset="0"/>
              <a:cs typeface="Arial" panose="020B0604020202020204" pitchFamily="34" charset="0"/>
              <a:sym typeface="+mn-ea"/>
            </a:endParaRPr>
          </a:p>
          <a:p>
            <a:pPr algn="l">
              <a:buClrTx/>
              <a:buSzTx/>
              <a:buFontTx/>
            </a:pPr>
            <a:endParaRPr sz="2400" b="1">
              <a:solidFill>
                <a:schemeClr val="bg1"/>
              </a:solidFill>
              <a:latin typeface="Arial" panose="020B0604020202020204" pitchFamily="34" charset="0"/>
              <a:cs typeface="Arial" panose="020B0604020202020204" pitchFamily="3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384800"/>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sym typeface="+mn-ea"/>
              </a:rPr>
              <a:t>Model Training - </a:t>
            </a:r>
            <a:r>
              <a:rPr sz="3200" b="1">
                <a:solidFill>
                  <a:schemeClr val="bg1"/>
                </a:solidFill>
                <a:latin typeface="Arial" panose="020B0604020202020204" pitchFamily="34" charset="0"/>
                <a:cs typeface="Arial" panose="020B0604020202020204" pitchFamily="34" charset="0"/>
                <a:sym typeface="+mn-ea"/>
              </a:rPr>
              <a:t>Lasso Regression</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pPr>
              <a:defRPr>
                <a:solidFill>
                  <a:srgbClr val="323232"/>
                </a:solidFill>
              </a:defRPr>
            </a:pPr>
            <a:r>
              <a:rPr sz="1800" b="1">
                <a:solidFill>
                  <a:schemeClr val="bg1"/>
                </a:solidFill>
                <a:latin typeface="Arial" panose="020B0604020202020204" pitchFamily="34" charset="0"/>
                <a:cs typeface="Arial" panose="020B0604020202020204" pitchFamily="34" charset="0"/>
                <a:sym typeface="+mn-ea"/>
              </a:rPr>
              <a:t>Lasso </a:t>
            </a:r>
            <a:r>
              <a:rPr lang="en-US" sz="1800">
                <a:solidFill>
                  <a:schemeClr val="bg1"/>
                </a:solidFill>
                <a:latin typeface="Arial" panose="020B0604020202020204" pitchFamily="34" charset="0"/>
                <a:cs typeface="Arial" panose="020B0604020202020204" pitchFamily="34" charset="0"/>
                <a:sym typeface="+mn-ea"/>
              </a:rPr>
              <a:t>(Least Absolute Shrinkage and Selection Operator)</a:t>
            </a:r>
          </a:p>
          <a:p>
            <a:pP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Applied L1 regularization to reduce overfitting and improve feature selection.</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Automatically eliminates less important features by shrinking their coefficients to zero.</a:t>
            </a:r>
          </a:p>
          <a:p>
            <a:pPr marL="285750" indent="-285750">
              <a:buFont typeface="Arial" panose="020B0604020202020204" pitchFamily="34" charset="0"/>
              <a:buChar char="•"/>
              <a:defRPr>
                <a:solidFill>
                  <a:srgbClr val="323232"/>
                </a:solidFill>
              </a:defRPr>
            </a:pPr>
            <a:endParaRPr lang="en-US" altLang="en-US" sz="1800" b="1">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b="1">
                <a:solidFill>
                  <a:schemeClr val="bg1"/>
                </a:solidFill>
                <a:latin typeface="Arial" panose="020B0604020202020204" pitchFamily="34" charset="0"/>
                <a:cs typeface="Arial" panose="020B0604020202020204" pitchFamily="34" charset="0"/>
                <a:sym typeface="+mn-ea"/>
              </a:rPr>
              <a:t>Benefits:</a:t>
            </a: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Helped in handling multicollinearity by selecting key features.</a:t>
            </a: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Improved model interpretability compared to Linear Regression.</a:t>
            </a:r>
          </a:p>
          <a:p>
            <a:pPr marL="285750" indent="-285750">
              <a:buFont typeface="Arial" panose="020B0604020202020204" pitchFamily="34" charset="0"/>
              <a:buChar char="•"/>
              <a:defRPr>
                <a:solidFill>
                  <a:srgbClr val="323232"/>
                </a:solidFill>
              </a:defRPr>
            </a:pPr>
            <a:endParaRPr lang="en-US" altLang="en-US" sz="1800" b="1">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b="1">
                <a:solidFill>
                  <a:schemeClr val="bg1"/>
                </a:solidFill>
                <a:latin typeface="Arial" panose="020B0604020202020204" pitchFamily="34" charset="0"/>
                <a:cs typeface="Arial" panose="020B0604020202020204" pitchFamily="34" charset="0"/>
                <a:sym typeface="+mn-ea"/>
              </a:rPr>
              <a:t>Limitations:</a:t>
            </a:r>
            <a:endParaRPr lang="en-US" altLang="en-US" sz="1800">
              <a:solidFill>
                <a:schemeClr val="bg1"/>
              </a:solidFill>
              <a:latin typeface="Arial" panose="020B0604020202020204" pitchFamily="34" charset="0"/>
              <a:cs typeface="Arial" panose="020B0604020202020204" pitchFamily="34" charset="0"/>
              <a:sym typeface="+mn-ea"/>
            </a:endParaRP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Could not fully capture nonlinear relationships in the data.</a:t>
            </a: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Performance was lower than Gradient Boosting models like XGBoost and CatBoost.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015865"/>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sym typeface="+mn-ea"/>
              </a:rPr>
              <a:t>Model Training - </a:t>
            </a:r>
            <a:r>
              <a:rPr lang="en-IN" altLang="en-US" sz="3200" b="1">
                <a:solidFill>
                  <a:schemeClr val="bg1"/>
                </a:solidFill>
                <a:latin typeface="Arial" panose="020B0604020202020204" pitchFamily="34" charset="0"/>
                <a:cs typeface="Arial" panose="020B0604020202020204" pitchFamily="34" charset="0"/>
                <a:sym typeface="+mn-ea"/>
              </a:rPr>
              <a:t>XGBoost</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800">
                <a:solidFill>
                  <a:schemeClr val="bg1"/>
                </a:solidFill>
                <a:latin typeface="Arial" panose="020B0604020202020204" pitchFamily="34" charset="0"/>
                <a:cs typeface="Arial" panose="020B0604020202020204" pitchFamily="34" charset="0"/>
                <a:sym typeface="+mn-ea"/>
              </a:rPr>
              <a:t>Used gradient boosting to improve prediction accuracy by combining multiple weak decision trees.</a:t>
            </a:r>
          </a:p>
          <a:p>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800" b="1">
                <a:solidFill>
                  <a:schemeClr val="bg1"/>
                </a:solidFill>
                <a:latin typeface="Arial" panose="020B0604020202020204" pitchFamily="34" charset="0"/>
                <a:cs typeface="Arial" panose="020B0604020202020204" pitchFamily="34" charset="0"/>
                <a:sym typeface="+mn-ea"/>
              </a:rPr>
              <a:t>Limitations:</a:t>
            </a:r>
          </a:p>
          <a:p>
            <a:endParaRPr lang="en-US" altLang="en-US" sz="1800" b="1">
              <a:solidFill>
                <a:schemeClr val="bg1"/>
              </a:solidFill>
              <a:latin typeface="Arial" panose="020B0604020202020204" pitchFamily="34" charset="0"/>
              <a:cs typeface="Arial" panose="020B0604020202020204" pitchFamily="34" charset="0"/>
              <a:sym typeface="+mn-ea"/>
            </a:endParaRPr>
          </a:p>
          <a:p>
            <a:pPr indent="457200"/>
            <a:r>
              <a:rPr lang="en-US" altLang="en-US" sz="1800">
                <a:solidFill>
                  <a:schemeClr val="bg1"/>
                </a:solidFill>
                <a:latin typeface="Arial" panose="020B0604020202020204" pitchFamily="34" charset="0"/>
                <a:cs typeface="Arial" panose="020B0604020202020204" pitchFamily="34" charset="0"/>
                <a:sym typeface="+mn-ea"/>
              </a:rPr>
              <a:t>Requires hyperparameter tuning to avoid overfitting.</a:t>
            </a:r>
          </a:p>
          <a:p>
            <a:endParaRPr lang="en-US" altLang="en-US" sz="1800">
              <a:solidFill>
                <a:schemeClr val="bg1"/>
              </a:solidFill>
              <a:latin typeface="Arial" panose="020B0604020202020204" pitchFamily="34" charset="0"/>
              <a:cs typeface="Arial" panose="020B0604020202020204" pitchFamily="34" charset="0"/>
              <a:sym typeface="+mn-ea"/>
            </a:endParaRPr>
          </a:p>
          <a:p>
            <a:pPr indent="457200"/>
            <a:r>
              <a:rPr lang="en-US" altLang="en-US" sz="1800">
                <a:solidFill>
                  <a:schemeClr val="bg1"/>
                </a:solidFill>
                <a:latin typeface="Arial" panose="020B0604020202020204" pitchFamily="34" charset="0"/>
                <a:cs typeface="Arial" panose="020B0604020202020204" pitchFamily="34" charset="0"/>
                <a:sym typeface="+mn-ea"/>
              </a:rPr>
              <a:t>Higher computational cost compared to simpler models.</a:t>
            </a:r>
          </a:p>
          <a:p>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US" altLang="en-US" sz="1800" b="1">
                <a:solidFill>
                  <a:schemeClr val="bg1"/>
                </a:solidFill>
                <a:latin typeface="Arial" panose="020B0604020202020204" pitchFamily="34" charset="0"/>
                <a:cs typeface="Arial" panose="020B0604020202020204" pitchFamily="34" charset="0"/>
                <a:sym typeface="+mn-ea"/>
              </a:rPr>
              <a:t>Findings:</a:t>
            </a:r>
          </a:p>
          <a:p>
            <a:endParaRPr lang="en-US" altLang="en-US" sz="1800">
              <a:solidFill>
                <a:schemeClr val="bg1"/>
              </a:solidFill>
              <a:latin typeface="Arial" panose="020B0604020202020204" pitchFamily="34" charset="0"/>
              <a:cs typeface="Arial" panose="020B0604020202020204" pitchFamily="34" charset="0"/>
              <a:sym typeface="+mn-ea"/>
            </a:endParaRPr>
          </a:p>
          <a:p>
            <a:pPr indent="457200"/>
            <a:r>
              <a:rPr lang="en-US" altLang="en-US" sz="1800">
                <a:solidFill>
                  <a:schemeClr val="bg1"/>
                </a:solidFill>
                <a:latin typeface="Arial" panose="020B0604020202020204" pitchFamily="34" charset="0"/>
                <a:cs typeface="Arial" panose="020B0604020202020204" pitchFamily="34" charset="0"/>
                <a:sym typeface="+mn-ea"/>
              </a:rPr>
              <a:t>Performed better than Linear and Lasso Regression.</a:t>
            </a:r>
          </a:p>
          <a:p>
            <a:endParaRPr lang="en-US" altLang="en-US" sz="1800">
              <a:solidFill>
                <a:schemeClr val="bg1"/>
              </a:solidFill>
              <a:latin typeface="Arial" panose="020B0604020202020204" pitchFamily="34" charset="0"/>
              <a:cs typeface="Arial" panose="020B0604020202020204" pitchFamily="34" charset="0"/>
              <a:sym typeface="+mn-ea"/>
            </a:endParaRPr>
          </a:p>
          <a:p>
            <a:pPr indent="457200"/>
            <a:r>
              <a:rPr lang="en-US" altLang="en-US" sz="1800">
                <a:solidFill>
                  <a:schemeClr val="bg1"/>
                </a:solidFill>
                <a:latin typeface="Arial" panose="020B0604020202020204" pitchFamily="34" charset="0"/>
                <a:cs typeface="Arial" panose="020B0604020202020204" pitchFamily="34" charset="0"/>
                <a:sym typeface="+mn-ea"/>
              </a:rPr>
              <a:t>Comparable or superior to CatBoost and Decision Tree models in prediction accuracy.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384800"/>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sym typeface="+mn-ea"/>
              </a:rPr>
              <a:t>Model Training - </a:t>
            </a:r>
            <a:r>
              <a:rPr lang="en-IN" altLang="en-US" sz="3200" b="1">
                <a:solidFill>
                  <a:schemeClr val="bg1"/>
                </a:solidFill>
                <a:latin typeface="Arial" panose="020B0604020202020204" pitchFamily="34" charset="0"/>
                <a:cs typeface="Arial" panose="020B0604020202020204" pitchFamily="34" charset="0"/>
                <a:sym typeface="+mn-ea"/>
              </a:rPr>
              <a:t>Decision Tree</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Used tree-based splitting to predict insurance premiums by learning decision rules from data.</a:t>
            </a:r>
          </a:p>
          <a:p>
            <a:pP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Handles both numerical and categorical data efficiently.</a:t>
            </a:r>
          </a:p>
          <a:p>
            <a:pP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b="1">
                <a:solidFill>
                  <a:schemeClr val="bg1"/>
                </a:solidFill>
                <a:latin typeface="Arial" panose="020B0604020202020204" pitchFamily="34" charset="0"/>
                <a:cs typeface="Arial" panose="020B0604020202020204" pitchFamily="34" charset="0"/>
                <a:sym typeface="+mn-ea"/>
              </a:rPr>
              <a:t>Limitations:</a:t>
            </a:r>
            <a:endParaRPr lang="en-US" altLang="en-US" sz="1800">
              <a:solidFill>
                <a:schemeClr val="bg1"/>
              </a:solidFill>
              <a:latin typeface="Arial" panose="020B0604020202020204" pitchFamily="34" charset="0"/>
              <a:cs typeface="Arial" panose="020B0604020202020204" pitchFamily="34" charset="0"/>
              <a:sym typeface="+mn-ea"/>
            </a:endParaRP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Prone to overfitting, especially with deep trees.</a:t>
            </a:r>
          </a:p>
          <a:p>
            <a:pP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Less robust compared to boosting models like XGBoost and CatBoost.</a:t>
            </a:r>
          </a:p>
          <a:p>
            <a:pPr>
              <a:defRPr>
                <a:solidFill>
                  <a:srgbClr val="323232"/>
                </a:solidFill>
              </a:defRPr>
            </a:pPr>
            <a:endParaRPr lang="en-US" altLang="en-US" sz="1800" b="1">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b="1">
                <a:solidFill>
                  <a:schemeClr val="bg1"/>
                </a:solidFill>
                <a:latin typeface="Arial" panose="020B0604020202020204" pitchFamily="34" charset="0"/>
                <a:cs typeface="Arial" panose="020B0604020202020204" pitchFamily="34" charset="0"/>
                <a:sym typeface="+mn-ea"/>
              </a:rPr>
              <a:t>Findings:</a:t>
            </a: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Provided reasonable accuracy, but boosting models outperformed it.</a:t>
            </a:r>
          </a:p>
          <a:p>
            <a:pPr indent="45720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Works best with pruning or ensemble methods to improve stability.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855345"/>
            <a:ext cx="7216140" cy="5939155"/>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sym typeface="+mn-ea"/>
              </a:rPr>
              <a:t>Model Training - </a:t>
            </a:r>
            <a:r>
              <a:rPr lang="en-IN" altLang="en-US" sz="3200" b="1">
                <a:solidFill>
                  <a:schemeClr val="bg1"/>
                </a:solidFill>
                <a:latin typeface="Arial" panose="020B0604020202020204" pitchFamily="34" charset="0"/>
                <a:cs typeface="Arial" panose="020B0604020202020204" pitchFamily="34" charset="0"/>
                <a:sym typeface="+mn-ea"/>
              </a:rPr>
              <a:t>Catboost</a:t>
            </a:r>
            <a:r>
              <a:rPr lang="en-US" sz="3200" b="1">
                <a:solidFill>
                  <a:schemeClr val="bg1"/>
                </a:solidFill>
                <a:latin typeface="Arial" panose="020B0604020202020204" pitchFamily="34" charset="0"/>
                <a:cs typeface="Arial" panose="020B0604020202020204" pitchFamily="34" charset="0"/>
              </a:rPr>
              <a:t> :</a:t>
            </a:r>
            <a:r>
              <a:rPr lang="en-US" sz="2400" b="1">
                <a:solidFill>
                  <a:schemeClr val="bg1"/>
                </a:solidFill>
                <a:latin typeface="Arial" panose="020B0604020202020204" pitchFamily="34" charset="0"/>
                <a:cs typeface="Arial" panose="020B0604020202020204" pitchFamily="34" charset="0"/>
              </a:rPr>
              <a:t> </a:t>
            </a:r>
          </a:p>
          <a:p>
            <a:endParaRPr lang="en-US" sz="2400" b="1">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A gradient boosting algorithm optimized for categorical data.</a:t>
            </a:r>
          </a:p>
          <a:p>
            <a:pPr>
              <a:buFont typeface="Arial" panose="020B0604020202020204" pitchFamily="34" charset="0"/>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Handles categorical variables efficiently without extensive preprocessing.</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Reduces overfitting through built-in regularization techniques.</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Faster training time compared to other boosting algorithms like XGBoost.</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solidFill>
                  <a:srgbClr val="323232"/>
                </a:solidFill>
              </a:defRPr>
            </a:pPr>
            <a:r>
              <a:rPr lang="en-US" altLang="en-US" sz="1800" b="1">
                <a:solidFill>
                  <a:schemeClr val="bg1"/>
                </a:solidFill>
                <a:latin typeface="Arial" panose="020B0604020202020204" pitchFamily="34" charset="0"/>
                <a:cs typeface="Arial" panose="020B0604020202020204" pitchFamily="34" charset="0"/>
                <a:sym typeface="+mn-ea"/>
              </a:rPr>
              <a:t>Findings:</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buFont typeface="Arial" panose="020B0604020202020204" pitchFamily="34" charset="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Achieved high accuracy in premium prediction.</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buFont typeface="Arial" panose="020B0604020202020204" pitchFamily="34" charset="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Performed competitively with XGBoost, sometimes better on categorical-heavy features.</a:t>
            </a:r>
          </a:p>
          <a:p>
            <a:pPr marL="285750" indent="-285750">
              <a:buFont typeface="Arial" panose="020B0604020202020204" pitchFamily="34" charset="0"/>
              <a:buChar char="•"/>
              <a:defRPr>
                <a:solidFill>
                  <a:srgbClr val="323232"/>
                </a:solidFill>
              </a:defRPr>
            </a:pPr>
            <a:endParaRPr lang="en-US" altLang="en-US" sz="1800">
              <a:solidFill>
                <a:schemeClr val="bg1"/>
              </a:solidFill>
              <a:latin typeface="Arial" panose="020B0604020202020204" pitchFamily="34" charset="0"/>
              <a:cs typeface="Arial" panose="020B0604020202020204" pitchFamily="34" charset="0"/>
              <a:sym typeface="+mn-ea"/>
            </a:endParaRPr>
          </a:p>
          <a:p>
            <a:pPr indent="457200">
              <a:buFont typeface="Arial" panose="020B0604020202020204" pitchFamily="34" charset="0"/>
              <a:defRPr>
                <a:solidFill>
                  <a:srgbClr val="323232"/>
                </a:solidFill>
              </a:defRPr>
            </a:pPr>
            <a:r>
              <a:rPr lang="en-US" altLang="en-US" sz="1800">
                <a:solidFill>
                  <a:schemeClr val="bg1"/>
                </a:solidFill>
                <a:latin typeface="Arial" panose="020B0604020202020204" pitchFamily="34" charset="0"/>
                <a:cs typeface="Arial" panose="020B0604020202020204" pitchFamily="34" charset="0"/>
                <a:sym typeface="+mn-ea"/>
              </a:rPr>
              <a:t>Required careful hyperparameter tuning for optimal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sz="2000" b="1">
                <a:solidFill>
                  <a:schemeClr val="bg1"/>
                </a:solidFill>
                <a:latin typeface="Arial" panose="020B0604020202020204" pitchFamily="34" charset="0"/>
                <a:cs typeface="Arial" panose="020B0604020202020204" pitchFamily="34" charset="0"/>
                <a:sym typeface="+mn-ea"/>
              </a:rPr>
              <a:t>Model Evaluation &amp; Comparison</a:t>
            </a:r>
            <a:endParaRPr lang="zh-CN" altLang="en-US"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2" name="Table 1"/>
          <p:cNvGraphicFramePr/>
          <p:nvPr>
            <p:custDataLst>
              <p:tags r:id="rId1"/>
            </p:custDataLst>
          </p:nvPr>
        </p:nvGraphicFramePr>
        <p:xfrm>
          <a:off x="416560" y="1038225"/>
          <a:ext cx="11292840" cy="4600575"/>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0000"/>
                    </a:ext>
                  </a:extLst>
                </a:gridCol>
                <a:gridCol w="1882140">
                  <a:extLst>
                    <a:ext uri="{9D8B030D-6E8A-4147-A177-3AD203B41FA5}">
                      <a16:colId xmlns:a16="http://schemas.microsoft.com/office/drawing/2014/main" val="20001"/>
                    </a:ext>
                  </a:extLst>
                </a:gridCol>
                <a:gridCol w="1882140">
                  <a:extLst>
                    <a:ext uri="{9D8B030D-6E8A-4147-A177-3AD203B41FA5}">
                      <a16:colId xmlns:a16="http://schemas.microsoft.com/office/drawing/2014/main" val="20002"/>
                    </a:ext>
                  </a:extLst>
                </a:gridCol>
                <a:gridCol w="1882140">
                  <a:extLst>
                    <a:ext uri="{9D8B030D-6E8A-4147-A177-3AD203B41FA5}">
                      <a16:colId xmlns:a16="http://schemas.microsoft.com/office/drawing/2014/main" val="20003"/>
                    </a:ext>
                  </a:extLst>
                </a:gridCol>
                <a:gridCol w="1882140">
                  <a:extLst>
                    <a:ext uri="{9D8B030D-6E8A-4147-A177-3AD203B41FA5}">
                      <a16:colId xmlns:a16="http://schemas.microsoft.com/office/drawing/2014/main" val="20004"/>
                    </a:ext>
                  </a:extLst>
                </a:gridCol>
                <a:gridCol w="1882140">
                  <a:extLst>
                    <a:ext uri="{9D8B030D-6E8A-4147-A177-3AD203B41FA5}">
                      <a16:colId xmlns:a16="http://schemas.microsoft.com/office/drawing/2014/main" val="20005"/>
                    </a:ext>
                  </a:extLst>
                </a:gridCol>
              </a:tblGrid>
              <a:tr h="920115">
                <a:tc>
                  <a:txBody>
                    <a:bodyPr/>
                    <a:lstStyle/>
                    <a:p>
                      <a:pPr>
                        <a:buNone/>
                      </a:pPr>
                      <a:r>
                        <a:rPr lang="en-IN" altLang="en-US"/>
                        <a:t>Metrics</a:t>
                      </a:r>
                    </a:p>
                  </a:txBody>
                  <a:tcPr>
                    <a:solidFill>
                      <a:srgbClr val="99CA3B"/>
                    </a:solidFill>
                  </a:tcPr>
                </a:tc>
                <a:tc>
                  <a:txBody>
                    <a:bodyPr/>
                    <a:lstStyle/>
                    <a:p>
                      <a:pPr>
                        <a:buNone/>
                      </a:pPr>
                      <a:r>
                        <a:rPr lang="en-IN" altLang="en-US"/>
                        <a:t>Linear Reg</a:t>
                      </a:r>
                    </a:p>
                  </a:txBody>
                  <a:tcPr>
                    <a:solidFill>
                      <a:srgbClr val="99CA3B"/>
                    </a:solidFill>
                  </a:tcPr>
                </a:tc>
                <a:tc>
                  <a:txBody>
                    <a:bodyPr/>
                    <a:lstStyle/>
                    <a:p>
                      <a:pPr>
                        <a:buNone/>
                      </a:pPr>
                      <a:r>
                        <a:rPr lang="en-IN" altLang="en-US"/>
                        <a:t>Lasso Reg.</a:t>
                      </a:r>
                    </a:p>
                  </a:txBody>
                  <a:tcPr>
                    <a:solidFill>
                      <a:srgbClr val="99CA3B"/>
                    </a:solidFill>
                  </a:tcPr>
                </a:tc>
                <a:tc>
                  <a:txBody>
                    <a:bodyPr/>
                    <a:lstStyle/>
                    <a:p>
                      <a:pPr>
                        <a:buNone/>
                      </a:pPr>
                      <a:r>
                        <a:rPr lang="en-IN" altLang="en-US"/>
                        <a:t>XG Boost</a:t>
                      </a:r>
                    </a:p>
                  </a:txBody>
                  <a:tcPr>
                    <a:solidFill>
                      <a:srgbClr val="99CA3B"/>
                    </a:solidFill>
                  </a:tcPr>
                </a:tc>
                <a:tc>
                  <a:txBody>
                    <a:bodyPr/>
                    <a:lstStyle/>
                    <a:p>
                      <a:pPr>
                        <a:buNone/>
                      </a:pPr>
                      <a:r>
                        <a:rPr lang="en-IN" altLang="en-US"/>
                        <a:t>Decision Tree Reg.</a:t>
                      </a:r>
                    </a:p>
                  </a:txBody>
                  <a:tcPr>
                    <a:solidFill>
                      <a:srgbClr val="99CA3B"/>
                    </a:solidFill>
                  </a:tcPr>
                </a:tc>
                <a:tc>
                  <a:txBody>
                    <a:bodyPr/>
                    <a:lstStyle/>
                    <a:p>
                      <a:pPr>
                        <a:buNone/>
                      </a:pPr>
                      <a:r>
                        <a:rPr lang="en-IN" altLang="en-US"/>
                        <a:t>CatBoost</a:t>
                      </a:r>
                    </a:p>
                  </a:txBody>
                  <a:tcPr>
                    <a:solidFill>
                      <a:srgbClr val="99CA3B"/>
                    </a:solidFill>
                  </a:tcPr>
                </a:tc>
                <a:extLst>
                  <a:ext uri="{0D108BD9-81ED-4DB2-BD59-A6C34878D82A}">
                    <a16:rowId xmlns:a16="http://schemas.microsoft.com/office/drawing/2014/main" val="10000"/>
                  </a:ext>
                </a:extLst>
              </a:tr>
              <a:tr h="920115">
                <a:tc>
                  <a:txBody>
                    <a:bodyPr/>
                    <a:lstStyle/>
                    <a:p>
                      <a:pPr algn="l">
                        <a:buClrTx/>
                        <a:buSzTx/>
                        <a:buFontTx/>
                        <a:buNone/>
                      </a:pPr>
                      <a:r>
                        <a:rPr lang="en-IN" altLang="en-US" b="1">
                          <a:solidFill>
                            <a:schemeClr val="tx1"/>
                          </a:solidFill>
                        </a:rPr>
                        <a:t>MSE</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11364.241857344</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11364.327874815</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618.28630509589</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496.90964620614</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503.94822168769</a:t>
                      </a:r>
                    </a:p>
                  </a:txBody>
                  <a:tcPr anchor="b">
                    <a:solidFill>
                      <a:schemeClr val="accent6">
                        <a:lumMod val="40000"/>
                        <a:lumOff val="60000"/>
                      </a:schemeClr>
                    </a:solidFill>
                  </a:tcPr>
                </a:tc>
                <a:extLst>
                  <a:ext uri="{0D108BD9-81ED-4DB2-BD59-A6C34878D82A}">
                    <a16:rowId xmlns:a16="http://schemas.microsoft.com/office/drawing/2014/main" val="10001"/>
                  </a:ext>
                </a:extLst>
              </a:tr>
              <a:tr h="920115">
                <a:tc>
                  <a:txBody>
                    <a:bodyPr/>
                    <a:lstStyle/>
                    <a:p>
                      <a:pPr algn="l">
                        <a:buClrTx/>
                        <a:buSzTx/>
                        <a:buFontTx/>
                        <a:buNone/>
                      </a:pPr>
                      <a:r>
                        <a:rPr lang="en-IN" altLang="en-US" b="1">
                          <a:solidFill>
                            <a:schemeClr val="tx1"/>
                          </a:solidFill>
                        </a:rPr>
                        <a:t>MAE</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75.483000211146</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75.502013355569</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5.3982651676582</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0.7668584451003</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6.3175458068354</a:t>
                      </a:r>
                    </a:p>
                  </a:txBody>
                  <a:tcPr anchor="b">
                    <a:solidFill>
                      <a:schemeClr val="accent6">
                        <a:lumMod val="40000"/>
                        <a:lumOff val="60000"/>
                      </a:schemeClr>
                    </a:solidFill>
                  </a:tcPr>
                </a:tc>
                <a:extLst>
                  <a:ext uri="{0D108BD9-81ED-4DB2-BD59-A6C34878D82A}">
                    <a16:rowId xmlns:a16="http://schemas.microsoft.com/office/drawing/2014/main" val="10002"/>
                  </a:ext>
                </a:extLst>
              </a:tr>
              <a:tr h="920115">
                <a:tc>
                  <a:txBody>
                    <a:bodyPr/>
                    <a:lstStyle/>
                    <a:p>
                      <a:pPr algn="l">
                        <a:buClrTx/>
                        <a:buSzTx/>
                        <a:buFontTx/>
                        <a:buNone/>
                      </a:pPr>
                      <a:r>
                        <a:rPr lang="en-IN" altLang="en-US" b="1">
                          <a:solidFill>
                            <a:schemeClr val="tx1"/>
                          </a:solidFill>
                        </a:rPr>
                        <a:t>RMSE</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106.60319815720</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106.60360160339</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24.865363562511</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22.291470256718</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22.448791096352</a:t>
                      </a:r>
                    </a:p>
                  </a:txBody>
                  <a:tcPr anchor="b">
                    <a:solidFill>
                      <a:schemeClr val="accent6">
                        <a:lumMod val="40000"/>
                        <a:lumOff val="60000"/>
                      </a:schemeClr>
                    </a:solidFill>
                  </a:tcPr>
                </a:tc>
                <a:extLst>
                  <a:ext uri="{0D108BD9-81ED-4DB2-BD59-A6C34878D82A}">
                    <a16:rowId xmlns:a16="http://schemas.microsoft.com/office/drawing/2014/main" val="10003"/>
                  </a:ext>
                </a:extLst>
              </a:tr>
              <a:tr h="920115">
                <a:tc>
                  <a:txBody>
                    <a:bodyPr/>
                    <a:lstStyle/>
                    <a:p>
                      <a:pPr algn="l">
                        <a:buClrTx/>
                        <a:buSzTx/>
                        <a:buFontTx/>
                        <a:buNone/>
                      </a:pPr>
                      <a:r>
                        <a:rPr lang="en-IN" altLang="en-US" b="1">
                          <a:solidFill>
                            <a:schemeClr val="tx1"/>
                          </a:solidFill>
                        </a:rPr>
                        <a:t>R-squared</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0.9848624035094</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0.9848622889309</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0.9991764194462</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0.9993380977093</a:t>
                      </a:r>
                    </a:p>
                  </a:txBody>
                  <a:tcPr anchor="b">
                    <a:solidFill>
                      <a:schemeClr val="accent6">
                        <a:lumMod val="40000"/>
                        <a:lumOff val="60000"/>
                      </a:schemeClr>
                    </a:solidFill>
                  </a:tcPr>
                </a:tc>
                <a:tc>
                  <a:txBody>
                    <a:bodyPr/>
                    <a:lstStyle/>
                    <a:p>
                      <a:pPr algn="l">
                        <a:buClrTx/>
                        <a:buSzTx/>
                        <a:buFontTx/>
                        <a:buNone/>
                      </a:pPr>
                      <a:r>
                        <a:rPr lang="en-US" altLang="en-US" sz="1600">
                          <a:solidFill>
                            <a:schemeClr val="tx1"/>
                          </a:solidFill>
                        </a:rPr>
                        <a:t>0.9993287220627</a:t>
                      </a:r>
                    </a:p>
                  </a:txBody>
                  <a:tcPr anchor="b">
                    <a:solidFill>
                      <a:schemeClr val="accent6">
                        <a:lumMod val="40000"/>
                        <a:lumOff val="6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sz="2000" b="1">
                <a:solidFill>
                  <a:schemeClr val="bg1"/>
                </a:solidFill>
                <a:latin typeface="Arial" panose="020B0604020202020204" pitchFamily="34" charset="0"/>
                <a:cs typeface="Arial" panose="020B0604020202020204" pitchFamily="34" charset="0"/>
                <a:sym typeface="+mn-ea"/>
              </a:rPr>
              <a:t>Model Evaluation &amp; Comparison</a:t>
            </a:r>
            <a:endParaRPr lang="zh-CN" altLang="en-US"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26" name="Table 25"/>
          <p:cNvGraphicFramePr/>
          <p:nvPr>
            <p:custDataLst>
              <p:tags r:id="rId1"/>
            </p:custDataLst>
          </p:nvPr>
        </p:nvGraphicFramePr>
        <p:xfrm>
          <a:off x="323850" y="1000760"/>
          <a:ext cx="11544300" cy="4673600"/>
        </p:xfrm>
        <a:graphic>
          <a:graphicData uri="http://schemas.openxmlformats.org/drawingml/2006/table">
            <a:tbl>
              <a:tblPr firstRow="1" bandRow="1">
                <a:tableStyleId>{5C22544A-7EE6-4342-B048-85BDC9FD1C3A}</a:tableStyleId>
              </a:tblPr>
              <a:tblGrid>
                <a:gridCol w="2886075">
                  <a:extLst>
                    <a:ext uri="{9D8B030D-6E8A-4147-A177-3AD203B41FA5}">
                      <a16:colId xmlns:a16="http://schemas.microsoft.com/office/drawing/2014/main" val="20000"/>
                    </a:ext>
                  </a:extLst>
                </a:gridCol>
                <a:gridCol w="2886075">
                  <a:extLst>
                    <a:ext uri="{9D8B030D-6E8A-4147-A177-3AD203B41FA5}">
                      <a16:colId xmlns:a16="http://schemas.microsoft.com/office/drawing/2014/main" val="20001"/>
                    </a:ext>
                  </a:extLst>
                </a:gridCol>
                <a:gridCol w="2886075">
                  <a:extLst>
                    <a:ext uri="{9D8B030D-6E8A-4147-A177-3AD203B41FA5}">
                      <a16:colId xmlns:a16="http://schemas.microsoft.com/office/drawing/2014/main" val="20002"/>
                    </a:ext>
                  </a:extLst>
                </a:gridCol>
                <a:gridCol w="2886075">
                  <a:extLst>
                    <a:ext uri="{9D8B030D-6E8A-4147-A177-3AD203B41FA5}">
                      <a16:colId xmlns:a16="http://schemas.microsoft.com/office/drawing/2014/main" val="20003"/>
                    </a:ext>
                  </a:extLst>
                </a:gridCol>
              </a:tblGrid>
              <a:tr h="584200">
                <a:tc>
                  <a:txBody>
                    <a:bodyPr/>
                    <a:lstStyle/>
                    <a:p>
                      <a:pPr algn="ctr" fontAlgn="t">
                        <a:buClrTx/>
                        <a:buSzTx/>
                        <a:buFontTx/>
                      </a:pPr>
                      <a:r>
                        <a:rPr lang="en-US" altLang="zh-CN" sz="2000" b="1" i="1">
                          <a:solidFill>
                            <a:schemeClr val="bg1"/>
                          </a:solidFill>
                          <a:latin typeface="Arial" panose="020B0604020202020204" pitchFamily="34" charset="0"/>
                          <a:ea typeface="Calibri" panose="020F0502020204030204"/>
                          <a:cs typeface="Arial" panose="020B0604020202020204" pitchFamily="34" charset="0"/>
                        </a:rPr>
                        <a:t>Feature</a:t>
                      </a:r>
                    </a:p>
                  </a:txBody>
                  <a:tcPr marL="7937" marR="7937" marT="7937" marB="0">
                    <a:solidFill>
                      <a:schemeClr val="accent6"/>
                    </a:solidFill>
                  </a:tcPr>
                </a:tc>
                <a:tc>
                  <a:txBody>
                    <a:bodyPr/>
                    <a:lstStyle/>
                    <a:p>
                      <a:pPr algn="ctr" fontAlgn="t">
                        <a:buClrTx/>
                        <a:buSzTx/>
                        <a:buFontTx/>
                      </a:pPr>
                      <a:r>
                        <a:rPr lang="en-US" altLang="zh-CN" sz="2000" b="1" i="1">
                          <a:solidFill>
                            <a:schemeClr val="bg1"/>
                          </a:solidFill>
                          <a:latin typeface="Arial" panose="020B0604020202020204" pitchFamily="34" charset="0"/>
                          <a:ea typeface="Calibri" panose="020F0502020204030204"/>
                          <a:cs typeface="Arial" panose="020B0604020202020204" pitchFamily="34" charset="0"/>
                        </a:rPr>
                        <a:t>SVR (RBF Kernel)</a:t>
                      </a:r>
                    </a:p>
                  </a:txBody>
                  <a:tcPr marL="7937" marR="7937" marT="7937" marB="0">
                    <a:solidFill>
                      <a:schemeClr val="accent6"/>
                    </a:solidFill>
                  </a:tcPr>
                </a:tc>
                <a:tc>
                  <a:txBody>
                    <a:bodyPr/>
                    <a:lstStyle/>
                    <a:p>
                      <a:pPr algn="ctr" fontAlgn="t">
                        <a:buClrTx/>
                        <a:buSzTx/>
                        <a:buFontTx/>
                      </a:pPr>
                      <a:r>
                        <a:rPr lang="en-US" altLang="zh-CN" sz="2000" b="1" i="1">
                          <a:solidFill>
                            <a:schemeClr val="bg1"/>
                          </a:solidFill>
                          <a:latin typeface="Arial" panose="020B0604020202020204" pitchFamily="34" charset="0"/>
                          <a:ea typeface="Calibri" panose="020F0502020204030204"/>
                          <a:cs typeface="Arial" panose="020B0604020202020204" pitchFamily="34" charset="0"/>
                        </a:rPr>
                        <a:t>Lasso Regression</a:t>
                      </a:r>
                    </a:p>
                  </a:txBody>
                  <a:tcPr marL="7937" marR="7937" marT="7937" marB="0">
                    <a:solidFill>
                      <a:schemeClr val="accent6"/>
                    </a:solidFill>
                  </a:tcPr>
                </a:tc>
                <a:tc>
                  <a:txBody>
                    <a:bodyPr/>
                    <a:lstStyle/>
                    <a:p>
                      <a:pPr algn="ctr" fontAlgn="t">
                        <a:buClrTx/>
                        <a:buSzTx/>
                        <a:buFontTx/>
                      </a:pPr>
                      <a:r>
                        <a:rPr lang="en-US" altLang="zh-CN" sz="2000" b="1" i="1">
                          <a:solidFill>
                            <a:schemeClr val="bg1"/>
                          </a:solidFill>
                          <a:latin typeface="Arial" panose="020B0604020202020204" pitchFamily="34" charset="0"/>
                          <a:ea typeface="Calibri" panose="020F0502020204030204"/>
                          <a:cs typeface="Arial" panose="020B0604020202020204" pitchFamily="34" charset="0"/>
                        </a:rPr>
                        <a:t>Gradient Boosting</a:t>
                      </a:r>
                    </a:p>
                  </a:txBody>
                  <a:tcPr marL="7937" marR="7937" marT="7937" marB="0">
                    <a:solidFill>
                      <a:schemeClr val="accent6"/>
                    </a:solidFill>
                  </a:tcPr>
                </a:tc>
                <a:extLst>
                  <a:ext uri="{0D108BD9-81ED-4DB2-BD59-A6C34878D82A}">
                    <a16:rowId xmlns:a16="http://schemas.microsoft.com/office/drawing/2014/main" val="10000"/>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Handles Nonlinear Data</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Yes (Kernel trick)</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No (Linear model)</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Yes (Decision trees)</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1"/>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Feature Selection</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No</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Yes (L1 Regularization)</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Implicit (Tree-based)</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2"/>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Overfitting Control</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Regularization (C, Epsilon)</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L1 penalty (reduces complexity)</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Boosting reduces bias</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3"/>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Computational Efficiency</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Slow for large datasets</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Fast (Linear Model)</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Slower (More trees, complex calculations)</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4"/>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Performance on Test Data</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Moderate</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Good</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Best</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5"/>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Robust to Outliers?</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Yes (Margin-based)</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No</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Yes (Boosting corrects errors)</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6"/>
                  </a:ext>
                </a:extLst>
              </a:tr>
              <a:tr h="584200">
                <a:tc>
                  <a:txBody>
                    <a:bodyPr/>
                    <a:lstStyle/>
                    <a:p>
                      <a:pPr algn="ctr" fontAlgn="b"/>
                      <a:r>
                        <a:rPr lang="en-US" altLang="zh-CN" sz="1600" b="1" i="0">
                          <a:solidFill>
                            <a:schemeClr val="tx1"/>
                          </a:solidFill>
                          <a:latin typeface="Arial" panose="020B0604020202020204" pitchFamily="34" charset="0"/>
                          <a:ea typeface="Calibri" panose="020F0502020204030204"/>
                          <a:cs typeface="Arial" panose="020B0604020202020204" pitchFamily="34" charset="0"/>
                        </a:rPr>
                        <a:t>Final Prediction Type</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Continuous Values</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Continuous Values</a:t>
                      </a:r>
                    </a:p>
                  </a:txBody>
                  <a:tcPr marL="7937" marR="7937" marT="7937" marB="0" anchor="b">
                    <a:solidFill>
                      <a:schemeClr val="accent6">
                        <a:lumMod val="40000"/>
                        <a:lumOff val="60000"/>
                      </a:schemeClr>
                    </a:solidFill>
                  </a:tcPr>
                </a:tc>
                <a:tc>
                  <a:txBody>
                    <a:bodyPr/>
                    <a:lstStyle/>
                    <a:p>
                      <a:pPr algn="ctr" fontAlgn="b"/>
                      <a:r>
                        <a:rPr lang="en-US" altLang="zh-CN" sz="1600" b="0" i="0">
                          <a:solidFill>
                            <a:schemeClr val="tx1"/>
                          </a:solidFill>
                          <a:latin typeface="Arial" panose="020B0604020202020204" pitchFamily="34" charset="0"/>
                          <a:ea typeface="Calibri" panose="020F0502020204030204"/>
                          <a:cs typeface="Arial" panose="020B0604020202020204" pitchFamily="34" charset="0"/>
                        </a:rPr>
                        <a:t>Continuous Values</a:t>
                      </a:r>
                    </a:p>
                  </a:txBody>
                  <a:tcPr marL="7937" marR="7937" marT="7937" marB="0" anchor="b">
                    <a:solidFill>
                      <a:schemeClr val="accent6">
                        <a:lumMod val="40000"/>
                        <a:lumOff val="6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53F48"/>
        </a:solidFill>
        <a:effectLst/>
      </p:bgPr>
    </p:bg>
    <p:spTree>
      <p:nvGrpSpPr>
        <p:cNvPr id="1" name=""/>
        <p:cNvGrpSpPr/>
        <p:nvPr/>
      </p:nvGrpSpPr>
      <p:grpSpPr>
        <a:xfrm>
          <a:off x="0" y="0"/>
          <a:ext cx="0" cy="0"/>
          <a:chOff x="0" y="0"/>
          <a:chExt cx="0" cy="0"/>
        </a:xfrm>
      </p:grpSpPr>
      <p:sp>
        <p:nvSpPr>
          <p:cNvPr id="17409" name="文本框 128"/>
          <p:cNvSpPr txBox="1"/>
          <p:nvPr/>
        </p:nvSpPr>
        <p:spPr>
          <a:xfrm>
            <a:off x="173355" y="266700"/>
            <a:ext cx="5922010" cy="398780"/>
          </a:xfrm>
          <a:prstGeom prst="rect">
            <a:avLst/>
          </a:prstGeom>
          <a:noFill/>
          <a:ln w="9525">
            <a:noFill/>
          </a:ln>
        </p:spPr>
        <p:txBody>
          <a:bodyPr wrap="square" anchor="t" anchorCtr="0">
            <a:spAutoFit/>
          </a:bodyPr>
          <a:lstStyle/>
          <a:p>
            <a:r>
              <a:rPr sz="2000" b="1">
                <a:solidFill>
                  <a:schemeClr val="bg1"/>
                </a:solidFill>
                <a:latin typeface="Arial" panose="020B0604020202020204" pitchFamily="34" charset="0"/>
                <a:cs typeface="Arial" panose="020B0604020202020204" pitchFamily="34" charset="0"/>
                <a:sym typeface="+mn-ea"/>
              </a:rPr>
              <a:t>Model </a:t>
            </a:r>
            <a:r>
              <a:rPr lang="en-IN" sz="2000" b="1">
                <a:solidFill>
                  <a:schemeClr val="bg1"/>
                </a:solidFill>
                <a:latin typeface="Arial" panose="020B0604020202020204" pitchFamily="34" charset="0"/>
                <a:cs typeface="Arial" panose="020B0604020202020204" pitchFamily="34" charset="0"/>
                <a:sym typeface="+mn-ea"/>
              </a:rPr>
              <a:t>Comparison :</a:t>
            </a:r>
            <a:endParaRPr lang="en-IN" sz="2000" b="1" dirty="0">
              <a:solidFill>
                <a:schemeClr val="bg1"/>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5" name="矩形 4"/>
          <p:cNvSpPr/>
          <p:nvPr/>
        </p:nvSpPr>
        <p:spPr>
          <a:xfrm>
            <a:off x="0" y="285750"/>
            <a:ext cx="123825" cy="352425"/>
          </a:xfrm>
          <a:prstGeom prst="rect">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 name="Content Placeholder 6" descr="comparison"/>
          <p:cNvPicPr>
            <a:picLocks noGrp="1" noChangeAspect="1"/>
          </p:cNvPicPr>
          <p:nvPr>
            <p:ph idx="1"/>
          </p:nvPr>
        </p:nvPicPr>
        <p:blipFill>
          <a:blip r:embed="rId2"/>
          <a:stretch>
            <a:fillRect/>
          </a:stretch>
        </p:blipFill>
        <p:spPr>
          <a:xfrm>
            <a:off x="1148080" y="665480"/>
            <a:ext cx="9563100" cy="5511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433" y="371895"/>
            <a:ext cx="9981072" cy="5988643"/>
          </a:xfrm>
          <a:prstGeom prst="rect">
            <a:avLst/>
          </a:prstGeom>
        </p:spPr>
      </p:pic>
    </p:spTree>
    <p:extLst>
      <p:ext uri="{BB962C8B-B14F-4D97-AF65-F5344CB8AC3E}">
        <p14:creationId xmlns:p14="http://schemas.microsoft.com/office/powerpoint/2010/main" val="1671428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764" y="380091"/>
            <a:ext cx="9812740" cy="5887644"/>
          </a:xfrm>
          <a:prstGeom prst="rect">
            <a:avLst/>
          </a:prstGeom>
        </p:spPr>
      </p:pic>
    </p:spTree>
    <p:extLst>
      <p:ext uri="{BB962C8B-B14F-4D97-AF65-F5344CB8AC3E}">
        <p14:creationId xmlns:p14="http://schemas.microsoft.com/office/powerpoint/2010/main" val="2135349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090" y="1008380"/>
            <a:ext cx="7216140" cy="5107940"/>
          </a:xfrm>
          <a:prstGeom prst="rect">
            <a:avLst/>
          </a:prstGeom>
          <a:noFill/>
        </p:spPr>
        <p:txBody>
          <a:bodyPr wrap="square" rtlCol="0">
            <a:spAutoFit/>
          </a:bodyPr>
          <a:lstStyle/>
          <a:p>
            <a:r>
              <a:rPr lang="en-IN" sz="3200" b="1">
                <a:solidFill>
                  <a:schemeClr val="bg1"/>
                </a:solidFill>
                <a:latin typeface="Arial" panose="020B0604020202020204" pitchFamily="34" charset="0"/>
                <a:cs typeface="Arial" panose="020B0604020202020204" pitchFamily="34" charset="0"/>
                <a:sym typeface="+mn-ea"/>
              </a:rPr>
              <a:t>Deployment</a:t>
            </a:r>
            <a:r>
              <a:rPr sz="3200" b="1">
                <a:solidFill>
                  <a:schemeClr val="bg1"/>
                </a:solidFill>
                <a:latin typeface="Arial" panose="020B0604020202020204" pitchFamily="34" charset="0"/>
                <a:cs typeface="Arial" panose="020B0604020202020204" pitchFamily="34" charset="0"/>
                <a:sym typeface="+mn-ea"/>
              </a:rPr>
              <a:t> </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r>
              <a:rPr lang="en-IN" altLang="en-US" sz="1800" b="1">
                <a:solidFill>
                  <a:schemeClr val="bg1"/>
                </a:solidFill>
                <a:latin typeface="Arial" panose="020B0604020202020204" pitchFamily="34" charset="0"/>
                <a:cs typeface="Arial" panose="020B0604020202020204" pitchFamily="34" charset="0"/>
                <a:sym typeface="+mn-ea"/>
              </a:rPr>
              <a:t>Koyeb:</a:t>
            </a: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Koyeb is a serverless platform for deploying web applications and APIs.</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It provides automatic scaling, global deployment, and built-in networking. </a:t>
            </a:r>
            <a:endParaRPr lang="en-US" altLang="en-US" sz="2400">
              <a:solidFill>
                <a:schemeClr val="bg1"/>
              </a:solidFill>
              <a:latin typeface="Arial" panose="020B0604020202020204" pitchFamily="34" charset="0"/>
              <a:cs typeface="Arial" panose="020B0604020202020204" pitchFamily="34" charset="0"/>
              <a:sym typeface="+mn-ea"/>
            </a:endParaRPr>
          </a:p>
          <a:p>
            <a:pPr algn="l">
              <a:buClrTx/>
              <a:buSzTx/>
              <a:buFontTx/>
            </a:pPr>
            <a:endParaRPr lang="en-US" altLang="en-US" sz="24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Enables seamless CI/CD workflows.</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IN" altLang="en-US" sz="1800" b="1">
                <a:solidFill>
                  <a:schemeClr val="bg1"/>
                </a:solidFill>
                <a:latin typeface="Arial" panose="020B0604020202020204" pitchFamily="34" charset="0"/>
                <a:cs typeface="Arial" panose="020B0604020202020204" pitchFamily="34" charset="0"/>
                <a:sym typeface="+mn-ea"/>
              </a:rPr>
              <a:t>Netlify :</a:t>
            </a:r>
          </a:p>
          <a:p>
            <a:pPr algn="l">
              <a:buClrTx/>
              <a:buSzTx/>
              <a:buFontTx/>
            </a:pPr>
            <a:endParaRPr lang="en-IN"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Netlify is a cloud-based platform for deploying web applications and static websites.</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IN" altLang="en-US" sz="1800">
                <a:solidFill>
                  <a:schemeClr val="bg1"/>
                </a:solidFill>
                <a:latin typeface="Arial" panose="020B0604020202020204" pitchFamily="34" charset="0"/>
                <a:cs typeface="Arial" panose="020B0604020202020204" pitchFamily="34" charset="0"/>
                <a:sym typeface="+mn-ea"/>
              </a:rPr>
              <a:t>E</a:t>
            </a:r>
            <a:r>
              <a:rPr lang="en-US" altLang="en-US" sz="1800">
                <a:solidFill>
                  <a:schemeClr val="bg1"/>
                </a:solidFill>
                <a:latin typeface="Arial" panose="020B0604020202020204" pitchFamily="34" charset="0"/>
                <a:cs typeface="Arial" panose="020B0604020202020204" pitchFamily="34" charset="0"/>
                <a:sym typeface="+mn-ea"/>
              </a:rPr>
              <a:t>nabl</a:t>
            </a:r>
            <a:r>
              <a:rPr lang="en-IN" altLang="en-US" sz="1800">
                <a:solidFill>
                  <a:schemeClr val="bg1"/>
                </a:solidFill>
                <a:latin typeface="Arial" panose="020B0604020202020204" pitchFamily="34" charset="0"/>
                <a:cs typeface="Arial" panose="020B0604020202020204" pitchFamily="34" charset="0"/>
                <a:sym typeface="+mn-ea"/>
              </a:rPr>
              <a:t>es</a:t>
            </a:r>
            <a:r>
              <a:rPr lang="en-US" altLang="en-US" sz="1800">
                <a:solidFill>
                  <a:schemeClr val="bg1"/>
                </a:solidFill>
                <a:latin typeface="Arial" panose="020B0604020202020204" pitchFamily="34" charset="0"/>
                <a:cs typeface="Arial" panose="020B0604020202020204" pitchFamily="34" charset="0"/>
                <a:sym typeface="+mn-ea"/>
              </a:rPr>
              <a:t> fast and scalable front-end deployments.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090" y="1008380"/>
            <a:ext cx="7216140" cy="1137285"/>
          </a:xfrm>
          <a:prstGeom prst="rect">
            <a:avLst/>
          </a:prstGeom>
          <a:noFill/>
        </p:spPr>
        <p:txBody>
          <a:bodyPr wrap="square" rtlCol="0">
            <a:spAutoFit/>
          </a:bodyPr>
          <a:lstStyle/>
          <a:p>
            <a:r>
              <a:rPr lang="en-IN" sz="3200" b="1">
                <a:solidFill>
                  <a:schemeClr val="bg1"/>
                </a:solidFill>
                <a:latin typeface="Arial" panose="020B0604020202020204" pitchFamily="34" charset="0"/>
                <a:cs typeface="Arial" panose="020B0604020202020204" pitchFamily="34" charset="0"/>
                <a:sym typeface="+mn-ea"/>
              </a:rPr>
              <a:t>Frontend</a:t>
            </a:r>
            <a:r>
              <a:rPr sz="3200" b="1">
                <a:solidFill>
                  <a:schemeClr val="bg1"/>
                </a:solidFill>
                <a:latin typeface="Arial" panose="020B0604020202020204" pitchFamily="34" charset="0"/>
                <a:cs typeface="Arial" panose="020B0604020202020204" pitchFamily="34" charset="0"/>
                <a:sym typeface="+mn-ea"/>
              </a:rPr>
              <a:t> </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endParaRPr lang="en-US" altLang="en-US" sz="1800">
              <a:solidFill>
                <a:schemeClr val="bg1"/>
              </a:solidFill>
              <a:latin typeface="Arial" panose="020B0604020202020204" pitchFamily="34" charset="0"/>
              <a:cs typeface="Arial" panose="020B0604020202020204" pitchFamily="34" charset="0"/>
              <a:sym typeface="+mn-ea"/>
            </a:endParaRPr>
          </a:p>
        </p:txBody>
      </p:sp>
      <p:pic>
        <p:nvPicPr>
          <p:cNvPr id="2" name="Content Placeholder 1" descr="Frontend"/>
          <p:cNvPicPr>
            <a:picLocks noGrp="1" noChangeAspect="1"/>
          </p:cNvPicPr>
          <p:nvPr>
            <p:ph idx="1"/>
          </p:nvPr>
        </p:nvPicPr>
        <p:blipFill>
          <a:blip r:embed="rId2"/>
          <a:stretch>
            <a:fillRect/>
          </a:stretch>
        </p:blipFill>
        <p:spPr>
          <a:xfrm>
            <a:off x="593090" y="1584960"/>
            <a:ext cx="5146040" cy="4159250"/>
          </a:xfrm>
          <a:prstGeom prst="rect">
            <a:avLst/>
          </a:prstGeom>
        </p:spPr>
      </p:pic>
      <p:pic>
        <p:nvPicPr>
          <p:cNvPr id="10" name="Picture 9" descr="Frontend2"/>
          <p:cNvPicPr>
            <a:picLocks noChangeAspect="1"/>
          </p:cNvPicPr>
          <p:nvPr/>
        </p:nvPicPr>
        <p:blipFill>
          <a:blip r:embed="rId3"/>
          <a:stretch>
            <a:fillRect/>
          </a:stretch>
        </p:blipFill>
        <p:spPr>
          <a:xfrm>
            <a:off x="5913755" y="1584960"/>
            <a:ext cx="6105525" cy="41592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090" y="1008380"/>
            <a:ext cx="7216140" cy="1137285"/>
          </a:xfrm>
          <a:prstGeom prst="rect">
            <a:avLst/>
          </a:prstGeom>
          <a:noFill/>
        </p:spPr>
        <p:txBody>
          <a:bodyPr wrap="square" rtlCol="0">
            <a:spAutoFit/>
          </a:bodyPr>
          <a:lstStyle/>
          <a:p>
            <a:r>
              <a:rPr lang="en-IN" sz="3200" b="1">
                <a:solidFill>
                  <a:schemeClr val="bg1"/>
                </a:solidFill>
                <a:latin typeface="Arial" panose="020B0604020202020204" pitchFamily="34" charset="0"/>
                <a:cs typeface="Arial" panose="020B0604020202020204" pitchFamily="34" charset="0"/>
                <a:sym typeface="+mn-ea"/>
              </a:rPr>
              <a:t>Backend</a:t>
            </a:r>
            <a:r>
              <a:rPr sz="3200" b="1">
                <a:solidFill>
                  <a:schemeClr val="bg1"/>
                </a:solidFill>
                <a:latin typeface="Arial" panose="020B0604020202020204" pitchFamily="34" charset="0"/>
                <a:cs typeface="Arial" panose="020B0604020202020204" pitchFamily="34" charset="0"/>
                <a:sym typeface="+mn-ea"/>
              </a:rPr>
              <a:t> </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endParaRPr lang="en-US" altLang="en-US" sz="1800">
              <a:solidFill>
                <a:schemeClr val="bg1"/>
              </a:solidFill>
              <a:latin typeface="Arial" panose="020B0604020202020204" pitchFamily="34" charset="0"/>
              <a:cs typeface="Arial" panose="020B0604020202020204" pitchFamily="34" charset="0"/>
              <a:sym typeface="+mn-ea"/>
            </a:endParaRPr>
          </a:p>
        </p:txBody>
      </p:sp>
      <p:pic>
        <p:nvPicPr>
          <p:cNvPr id="10" name="Content Placeholder 9" descr="Backend"/>
          <p:cNvPicPr>
            <a:picLocks noGrp="1" noChangeAspect="1"/>
          </p:cNvPicPr>
          <p:nvPr>
            <p:ph idx="1"/>
          </p:nvPr>
        </p:nvPicPr>
        <p:blipFill>
          <a:blip r:embed="rId2"/>
          <a:stretch>
            <a:fillRect/>
          </a:stretch>
        </p:blipFill>
        <p:spPr>
          <a:xfrm>
            <a:off x="1288415" y="1825625"/>
            <a:ext cx="9614535" cy="43516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351395"/>
            <a:ext cx="12192000" cy="640515"/>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32000" tIns="180000" rIns="216000" bIns="180000" numCol="1" spcCol="0" rtlCol="0" fromWordArt="0" anchor="ctr" anchorCtr="0" forceAA="0" compatLnSpc="1">
            <a:prstTxWarp prst="textNoShape">
              <a:avLst/>
            </a:prstTxWarp>
            <a:spAutoFit/>
          </a:bodyPr>
          <a:lstStyle/>
          <a:p>
            <a:pPr algn="l" rtl="0">
              <a:spcAft>
                <a:spcPts val="0"/>
              </a:spcAft>
            </a:pPr>
            <a:r>
              <a:rPr lang="en-GB" sz="1800" dirty="0">
                <a:solidFill>
                  <a:srgbClr val="000000"/>
                </a:solidFill>
                <a:effectLst/>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200" dirty="0">
              <a:effectLst/>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914400" y="530365"/>
            <a:ext cx="291465" cy="291465"/>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nvGraphicFramePr>
            <p:xfrm>
              <a:off x="721012" y="1170879"/>
              <a:ext cx="10749976" cy="533572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721012" y="1170879"/>
                <a:ext cx="10749976" cy="5335725"/>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090" y="1008380"/>
            <a:ext cx="7216140" cy="5384800"/>
          </a:xfrm>
          <a:prstGeom prst="rect">
            <a:avLst/>
          </a:prstGeom>
          <a:noFill/>
        </p:spPr>
        <p:txBody>
          <a:bodyPr wrap="square" rtlCol="0">
            <a:spAutoFit/>
          </a:bodyPr>
          <a:lstStyle/>
          <a:p>
            <a:r>
              <a:rPr sz="3200" b="1">
                <a:solidFill>
                  <a:schemeClr val="bg1"/>
                </a:solidFill>
                <a:latin typeface="Arial" panose="020B0604020202020204" pitchFamily="34" charset="0"/>
                <a:cs typeface="Arial" panose="020B0604020202020204" pitchFamily="34" charset="0"/>
                <a:sym typeface="+mn-ea"/>
              </a:rPr>
              <a:t>Conclusion </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We developed a machine learning model to predict insurance premiums using Lasso Regression, Gradient Boosting, and Support Vector Regression (SVR).</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Extensive data preprocessing, feature selection, and model evaluation were performed to ensure accuracy.</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Gradient Boosting performed the best, capturing complex relationships while balancing bias and variance.</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Lasso Regression was useful for feature selection, but its linear nature limited its predictive power.</a:t>
            </a:r>
          </a:p>
          <a:p>
            <a:pPr algn="l">
              <a:buClrTx/>
              <a:buSzTx/>
              <a:buFontTx/>
            </a:pPr>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a:solidFill>
                  <a:schemeClr val="bg1"/>
                </a:solidFill>
                <a:latin typeface="Arial" panose="020B0604020202020204" pitchFamily="34" charset="0"/>
                <a:cs typeface="Arial" panose="020B0604020202020204" pitchFamily="34" charset="0"/>
                <a:sym typeface="+mn-ea"/>
              </a:rPr>
              <a:t>SVR handled nonlinear patterns well, but it was computationally expensive and slower. </a:t>
            </a:r>
            <a:endParaRPr lang="en-US" altLang="en-US" sz="2400">
              <a:solidFill>
                <a:schemeClr val="bg1"/>
              </a:solidFill>
              <a:latin typeface="Arial" panose="020B0604020202020204" pitchFamily="34" charset="0"/>
              <a:cs typeface="Arial" panose="020B0604020202020204" pitchFamily="34" charset="0"/>
              <a:sym typeface="+mn-ea"/>
            </a:endParaRPr>
          </a:p>
          <a:p>
            <a:pPr algn="l">
              <a:buClrTx/>
              <a:buSzTx/>
              <a:buFontTx/>
            </a:pPr>
            <a:endParaRPr lang="en-US" altLang="en-US" sz="2400">
              <a:solidFill>
                <a:schemeClr val="bg1"/>
              </a:solidFill>
              <a:latin typeface="Arial" panose="020B0604020202020204" pitchFamily="34" charset="0"/>
              <a:cs typeface="Arial" panose="020B0604020202020204" pitchFamily="34"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flipH="1">
            <a:off x="9982200" y="2065338"/>
            <a:ext cx="2209800" cy="4792663"/>
          </a:xfrm>
          <a:custGeom>
            <a:avLst/>
            <a:gdLst>
              <a:gd name="connsiteX0" fmla="*/ 0 w 2209800"/>
              <a:gd name="connsiteY0" fmla="*/ 0 h 4792863"/>
              <a:gd name="connsiteX1" fmla="*/ 106223 w 2209800"/>
              <a:gd name="connsiteY1" fmla="*/ 6164 h 4792863"/>
              <a:gd name="connsiteX2" fmla="*/ 2209800 w 2209800"/>
              <a:gd name="connsiteY2" fmla="*/ 2684663 h 4792863"/>
              <a:gd name="connsiteX3" fmla="*/ 1452505 w 2209800"/>
              <a:gd name="connsiteY3" fmla="*/ 4666727 h 4792863"/>
              <a:gd name="connsiteX4" fmla="*/ 1321885 w 2209800"/>
              <a:gd name="connsiteY4" fmla="*/ 4792863 h 4792863"/>
              <a:gd name="connsiteX5" fmla="*/ 0 w 2209800"/>
              <a:gd name="connsiteY5" fmla="*/ 4792863 h 47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800" h="4792863">
                <a:moveTo>
                  <a:pt x="0" y="0"/>
                </a:moveTo>
                <a:lnTo>
                  <a:pt x="106223" y="6164"/>
                </a:lnTo>
                <a:cubicBezTo>
                  <a:pt x="1287771" y="144042"/>
                  <a:pt x="2209800" y="1290628"/>
                  <a:pt x="2209800" y="2684663"/>
                </a:cubicBezTo>
                <a:cubicBezTo>
                  <a:pt x="2209800" y="3468809"/>
                  <a:pt x="1918064" y="4174659"/>
                  <a:pt x="1452505" y="4666727"/>
                </a:cubicBezTo>
                <a:lnTo>
                  <a:pt x="1321885" y="4792863"/>
                </a:lnTo>
                <a:lnTo>
                  <a:pt x="0" y="4792863"/>
                </a:ln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5" name="等腰三角形 4"/>
          <p:cNvSpPr/>
          <p:nvPr/>
        </p:nvSpPr>
        <p:spPr>
          <a:xfrm rot="10800000">
            <a:off x="7808913" y="0"/>
            <a:ext cx="1600200" cy="762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6" name="等腰三角形 5"/>
          <p:cNvSpPr/>
          <p:nvPr/>
        </p:nvSpPr>
        <p:spPr>
          <a:xfrm rot="2033691">
            <a:off x="9542463" y="1358900"/>
            <a:ext cx="854075" cy="736600"/>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7" name="椭圆 6"/>
          <p:cNvSpPr/>
          <p:nvPr/>
        </p:nvSpPr>
        <p:spPr>
          <a:xfrm>
            <a:off x="10979150" y="928688"/>
            <a:ext cx="254000" cy="254000"/>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8" name="椭圆 7"/>
          <p:cNvSpPr/>
          <p:nvPr/>
        </p:nvSpPr>
        <p:spPr>
          <a:xfrm>
            <a:off x="593725" y="5983288"/>
            <a:ext cx="644525" cy="646113"/>
          </a:xfrm>
          <a:prstGeom prst="ellipse">
            <a:avLst/>
          </a:pr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9" name="Text Box 8"/>
          <p:cNvSpPr txBox="1"/>
          <p:nvPr/>
        </p:nvSpPr>
        <p:spPr>
          <a:xfrm>
            <a:off x="593725" y="1008380"/>
            <a:ext cx="7216140" cy="5939155"/>
          </a:xfrm>
          <a:prstGeom prst="rect">
            <a:avLst/>
          </a:prstGeom>
          <a:noFill/>
        </p:spPr>
        <p:txBody>
          <a:bodyPr wrap="square" rtlCol="0">
            <a:spAutoFit/>
          </a:bodyPr>
          <a:lstStyle/>
          <a:p>
            <a:r>
              <a:rPr lang="en-US" sz="3200" b="1">
                <a:solidFill>
                  <a:schemeClr val="bg1"/>
                </a:solidFill>
                <a:latin typeface="Arial" panose="020B0604020202020204" pitchFamily="34" charset="0"/>
                <a:cs typeface="Arial" panose="020B0604020202020204" pitchFamily="34" charset="0"/>
                <a:sym typeface="+mn-ea"/>
              </a:rPr>
              <a:t>Future Scope</a:t>
            </a:r>
            <a:r>
              <a:rPr sz="3200" b="1">
                <a:solidFill>
                  <a:schemeClr val="bg1"/>
                </a:solidFill>
                <a:latin typeface="Arial" panose="020B0604020202020204" pitchFamily="34" charset="0"/>
                <a:cs typeface="Arial" panose="020B0604020202020204" pitchFamily="34" charset="0"/>
                <a:sym typeface="+mn-ea"/>
              </a:rPr>
              <a:t> </a:t>
            </a:r>
            <a:r>
              <a:rPr lang="en-US" sz="3200" b="1">
                <a:solidFill>
                  <a:schemeClr val="bg1"/>
                </a:solidFill>
                <a:latin typeface="Arial" panose="020B0604020202020204" pitchFamily="34" charset="0"/>
                <a:cs typeface="Arial" panose="020B0604020202020204" pitchFamily="34" charset="0"/>
              </a:rPr>
              <a:t>:</a:t>
            </a:r>
            <a:r>
              <a:rPr lang="en-US" sz="2400" b="1">
                <a:solidFill>
                  <a:schemeClr val="bg1"/>
                </a:solidFill>
                <a:latin typeface="Arial" panose="020B0604020202020204" pitchFamily="34" charset="0"/>
                <a:cs typeface="Arial" panose="020B0604020202020204" pitchFamily="34" charset="0"/>
              </a:rPr>
              <a:t> </a:t>
            </a:r>
          </a:p>
          <a:p>
            <a:endParaRPr lang="en-US" altLang="en-US" sz="1800">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Improve Model Accuracy</a:t>
            </a:r>
            <a:r>
              <a:rPr lang="en-US" altLang="en-US" sz="1800">
                <a:solidFill>
                  <a:schemeClr val="bg1"/>
                </a:solidFill>
                <a:latin typeface="Arial" panose="020B0604020202020204" pitchFamily="34" charset="0"/>
                <a:cs typeface="Arial" panose="020B0604020202020204" pitchFamily="34" charset="0"/>
                <a:sym typeface="+mn-ea"/>
              </a:rPr>
              <a:t>: Fine-tune hyperparameters to get better predictions.</a:t>
            </a:r>
          </a:p>
          <a:p>
            <a:pPr algn="l">
              <a:buClrTx/>
              <a:buSzTx/>
              <a:buFontTx/>
            </a:pP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Add More Features</a:t>
            </a:r>
            <a:r>
              <a:rPr lang="en-US" altLang="en-US" sz="1800">
                <a:solidFill>
                  <a:schemeClr val="bg1"/>
                </a:solidFill>
                <a:latin typeface="Arial" panose="020B0604020202020204" pitchFamily="34" charset="0"/>
                <a:cs typeface="Arial" panose="020B0604020202020204" pitchFamily="34" charset="0"/>
                <a:sym typeface="+mn-ea"/>
              </a:rPr>
              <a:t>: Include real-world factors like claim history, policyholder behavior, or economic trends.</a:t>
            </a:r>
          </a:p>
          <a:p>
            <a:pPr algn="l">
              <a:buClrTx/>
              <a:buSzTx/>
              <a:buFontTx/>
            </a:pP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Try Deep Learning</a:t>
            </a:r>
            <a:r>
              <a:rPr lang="en-US" altLang="en-US" sz="1800">
                <a:solidFill>
                  <a:schemeClr val="bg1"/>
                </a:solidFill>
                <a:latin typeface="Arial" panose="020B0604020202020204" pitchFamily="34" charset="0"/>
                <a:cs typeface="Arial" panose="020B0604020202020204" pitchFamily="34" charset="0"/>
                <a:sym typeface="+mn-ea"/>
              </a:rPr>
              <a:t>: Use neural networks to capture more complex patterns in the data.</a:t>
            </a:r>
          </a:p>
          <a:p>
            <a:pPr algn="l">
              <a:buClrTx/>
              <a:buSzTx/>
              <a:buFontTx/>
            </a:pP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Make Real-Time Predictions</a:t>
            </a:r>
            <a:r>
              <a:rPr lang="en-US" altLang="en-US" sz="1800">
                <a:solidFill>
                  <a:schemeClr val="bg1"/>
                </a:solidFill>
                <a:latin typeface="Arial" panose="020B0604020202020204" pitchFamily="34" charset="0"/>
                <a:cs typeface="Arial" panose="020B0604020202020204" pitchFamily="34" charset="0"/>
                <a:sym typeface="+mn-ea"/>
              </a:rPr>
              <a:t>: Deploy the model for instant premium calculations.</a:t>
            </a:r>
          </a:p>
          <a:p>
            <a:pPr algn="l">
              <a:buClrTx/>
              <a:buSzTx/>
              <a:buFontTx/>
            </a:pP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Improve Explainability</a:t>
            </a:r>
            <a:r>
              <a:rPr lang="en-US" altLang="en-US" sz="1800">
                <a:solidFill>
                  <a:schemeClr val="bg1"/>
                </a:solidFill>
                <a:latin typeface="Arial" panose="020B0604020202020204" pitchFamily="34" charset="0"/>
                <a:cs typeface="Arial" panose="020B0604020202020204" pitchFamily="34" charset="0"/>
                <a:sym typeface="+mn-ea"/>
              </a:rPr>
              <a:t>: Use methods to understand how the model makes decisions.</a:t>
            </a:r>
          </a:p>
          <a:p>
            <a:pPr algn="l">
              <a:buClrTx/>
              <a:buSzTx/>
              <a:buFontTx/>
            </a:pPr>
            <a:endParaRPr lang="en-US" altLang="en-US" sz="1800" b="1">
              <a:solidFill>
                <a:schemeClr val="bg1"/>
              </a:solidFill>
              <a:latin typeface="Arial" panose="020B0604020202020204" pitchFamily="34" charset="0"/>
              <a:cs typeface="Arial" panose="020B0604020202020204" pitchFamily="34" charset="0"/>
              <a:sym typeface="+mn-ea"/>
            </a:endParaRPr>
          </a:p>
          <a:p>
            <a:pPr algn="l">
              <a:buClrTx/>
              <a:buSzTx/>
              <a:buFontTx/>
            </a:pPr>
            <a:r>
              <a:rPr lang="en-US" altLang="en-US" sz="1800" b="1">
                <a:solidFill>
                  <a:schemeClr val="bg1"/>
                </a:solidFill>
                <a:latin typeface="Arial" panose="020B0604020202020204" pitchFamily="34" charset="0"/>
                <a:cs typeface="Arial" panose="020B0604020202020204" pitchFamily="34" charset="0"/>
                <a:sym typeface="+mn-ea"/>
              </a:rPr>
              <a:t>Deploy in Production</a:t>
            </a:r>
            <a:r>
              <a:rPr lang="en-US" altLang="en-US" sz="1800">
                <a:solidFill>
                  <a:schemeClr val="bg1"/>
                </a:solidFill>
                <a:latin typeface="Arial" panose="020B0604020202020204" pitchFamily="34" charset="0"/>
                <a:cs typeface="Arial" panose="020B0604020202020204" pitchFamily="34" charset="0"/>
                <a:sym typeface="+mn-ea"/>
              </a:rPr>
              <a:t>: Integrate the model into a cloud-based system for real-world use. </a:t>
            </a:r>
            <a:endParaRPr lang="en-US" altLang="en-US" sz="2400">
              <a:solidFill>
                <a:schemeClr val="bg1"/>
              </a:solidFill>
              <a:latin typeface="Arial" panose="020B0604020202020204" pitchFamily="34" charset="0"/>
              <a:cs typeface="Arial" panose="020B0604020202020204" pitchFamily="34" charset="0"/>
              <a:sym typeface="+mn-ea"/>
            </a:endParaRPr>
          </a:p>
          <a:p>
            <a:pPr algn="l">
              <a:buClrTx/>
              <a:buSzTx/>
              <a:buFontTx/>
            </a:pPr>
            <a:endParaRPr lang="en-US" altLang="en-US" sz="2400">
              <a:solidFill>
                <a:schemeClr val="bg1"/>
              </a:solidFill>
              <a:latin typeface="Arial" panose="020B0604020202020204" pitchFamily="34" charset="0"/>
              <a:cs typeface="Arial" panose="020B0604020202020204" pitchFamily="34"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5805488"/>
            <a:ext cx="12192000" cy="1052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Arial" panose="020B0604020202020204" pitchFamily="34" charset="0"/>
              <a:cs typeface="+mn-cs"/>
            </a:endParaRPr>
          </a:p>
        </p:txBody>
      </p:sp>
      <p:sp>
        <p:nvSpPr>
          <p:cNvPr id="33794" name="文本框 6"/>
          <p:cNvSpPr txBox="1"/>
          <p:nvPr/>
        </p:nvSpPr>
        <p:spPr>
          <a:xfrm>
            <a:off x="4986338" y="2078038"/>
            <a:ext cx="6035675" cy="1200150"/>
          </a:xfrm>
          <a:prstGeom prst="rect">
            <a:avLst/>
          </a:prstGeom>
          <a:noFill/>
          <a:ln w="9525">
            <a:noFill/>
          </a:ln>
        </p:spPr>
        <p:txBody>
          <a:bodyPr anchor="t" anchorCtr="0">
            <a:spAutoFit/>
          </a:bodyPr>
          <a:lstStyle/>
          <a:p>
            <a:r>
              <a:rPr lang="en-US" altLang="zh-CN" sz="7200" b="1" dirty="0">
                <a:solidFill>
                  <a:srgbClr val="FFFFFF"/>
                </a:solidFill>
                <a:latin typeface="Arial" panose="020B0604020202020204" pitchFamily="34" charset="0"/>
                <a:ea typeface="等线" pitchFamily="2" charset="-122"/>
              </a:rPr>
              <a:t>THANK YOU</a:t>
            </a:r>
            <a:endParaRPr lang="zh-CN" altLang="en-US" sz="7200" b="1" dirty="0">
              <a:solidFill>
                <a:srgbClr val="FFFFFF"/>
              </a:solidFill>
              <a:latin typeface="Arial" panose="020B0604020202020204" pitchFamily="34" charset="0"/>
              <a:ea typeface="Arial" panose="020B0604020202020204" pitchFamily="34" charset="0"/>
            </a:endParaRPr>
          </a:p>
        </p:txBody>
      </p:sp>
      <p:sp>
        <p:nvSpPr>
          <p:cNvPr id="13" name="任意多边形 12"/>
          <p:cNvSpPr/>
          <p:nvPr/>
        </p:nvSpPr>
        <p:spPr>
          <a:xfrm>
            <a:off x="0" y="2528888"/>
            <a:ext cx="4078288" cy="4329113"/>
          </a:xfrm>
          <a:custGeom>
            <a:avLst/>
            <a:gdLst>
              <a:gd name="connsiteX0" fmla="*/ 744589 w 5012696"/>
              <a:gd name="connsiteY0" fmla="*/ 0 h 5320395"/>
              <a:gd name="connsiteX1" fmla="*/ 5012696 w 5012696"/>
              <a:gd name="connsiteY1" fmla="*/ 4268107 h 5320395"/>
              <a:gd name="connsiteX2" fmla="*/ 4925983 w 5012696"/>
              <a:gd name="connsiteY2" fmla="*/ 5128280 h 5320395"/>
              <a:gd name="connsiteX3" fmla="*/ 4876585 w 5012696"/>
              <a:gd name="connsiteY3" fmla="*/ 5320395 h 5320395"/>
              <a:gd name="connsiteX4" fmla="*/ 0 w 5012696"/>
              <a:gd name="connsiteY4" fmla="*/ 5320395 h 5320395"/>
              <a:gd name="connsiteX5" fmla="*/ 0 w 5012696"/>
              <a:gd name="connsiteY5" fmla="*/ 66072 h 5320395"/>
              <a:gd name="connsiteX6" fmla="*/ 94598 w 5012696"/>
              <a:gd name="connsiteY6" fmla="*/ 49178 h 5320395"/>
              <a:gd name="connsiteX7" fmla="*/ 744589 w 5012696"/>
              <a:gd name="connsiteY7" fmla="*/ 0 h 532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2696" h="5320395">
                <a:moveTo>
                  <a:pt x="744589" y="0"/>
                </a:moveTo>
                <a:cubicBezTo>
                  <a:pt x="3101799" y="0"/>
                  <a:pt x="5012696" y="1910897"/>
                  <a:pt x="5012696" y="4268107"/>
                </a:cubicBezTo>
                <a:cubicBezTo>
                  <a:pt x="5012696" y="4562759"/>
                  <a:pt x="4982838" y="4850436"/>
                  <a:pt x="4925983" y="5128280"/>
                </a:cubicBezTo>
                <a:lnTo>
                  <a:pt x="4876585" y="5320395"/>
                </a:lnTo>
                <a:lnTo>
                  <a:pt x="0" y="5320395"/>
                </a:lnTo>
                <a:lnTo>
                  <a:pt x="0" y="66072"/>
                </a:lnTo>
                <a:lnTo>
                  <a:pt x="94598" y="49178"/>
                </a:lnTo>
                <a:cubicBezTo>
                  <a:pt x="306535" y="16795"/>
                  <a:pt x="523601" y="0"/>
                  <a:pt x="744589" y="0"/>
                </a:cubicBezTo>
                <a:close/>
              </a:path>
            </a:pathLst>
          </a:custGeom>
          <a:solidFill>
            <a:srgbClr val="99CA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3533775" y="5011738"/>
            <a:ext cx="1089025" cy="10874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10610850" y="730250"/>
            <a:ext cx="411163" cy="409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11387138" y="1357313"/>
            <a:ext cx="258763" cy="2587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9*362"/>
  <p:tag name="TABLE_ENDDRAG_RECT" val="32*81*889*36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08*368"/>
  <p:tag name="TABLE_ENDDRAG_RECT" val="26*78*909*3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0163905c-c018-4397-bfd0-80aa69b5442b}">
  <we:reference id="WA200003233" version="2.0.0.3" store="en-US" storeType="OMEX"/>
  <we:alternateReferences/>
  <we:properties>
    <we:property name="Microsoft.Office.CampaignId" value="&quot;none&quot;"/>
    <we:property name="artifactViewState" value="&quot;live&quot;"/>
    <we:property name="backgroundColor" value="&quot;#F9F7F2&quot;"/>
    <we:property name="bookmark" value="&quot;H4sIAAAAAAAAA6VTPW/bMBD9KwFno+A3qYzpGgRBU2QJMhypk8GGFgWKCpwa/u8lJQMZOgRwFon37vG9u9PpRPowTxE+HuCA5JbcpfR2gPx2w8iOjBs2SCH8QB1DyrnwzhiQNZumEtI4k9sTKZD3WJ7DvEBsQhV8ed0RiPER9i0aIM64IxPmOY0Qw1/cyDVV8oLnHcHjFFOGJvlUoGCTfa/0GtcS2A9RHcGX8I5P6MuG/sIp5XKJO0oZh4F6sIoqdL3ntt6Zt+xa5tf8ZroW9jONBcJYC2iY7nrOYHBaIfdSUm/Uyp3DuI+XVj7v/v6Y2tgKHotLxzYp96d6NqXzubZqEJxTWivgXWe0Y1yr69WstUKDhE6qnlpGvbPmejVhne4MFVp6JjUXTDv4Ug3Wgd4tpdTP8p8kgNHc1CahZ1RraZlk35Q0vWYcnaWCK26Adl5c3fMq+ImQA9Zdboe0lHkCj48w1vjlRKac6gKXgCuvLiyMPfaXc27v+1Awb9bPEJf152mbT1ab1/b4BzZvyKZxAwAA&quot;"/>
    <we:property name="creatorSessionId" value="&quot;8090960c-90e8-488f-b580-86e1536c3b63&quot;"/>
    <we:property name="creatorTenantId" value="&quot;df8679cd-a80e-45d8-99ac-c83ed7ff95a0&quot;"/>
    <we:property name="creatorUserId" value="&quot;10032002B3002060&quot;"/>
    <we:property name="datasetId" value="&quot;7b507130-ca6a-440e-8375-e437ef280069&quot;"/>
    <we:property name="embedUrl" value="&quot;/reportEmbed?reportId=acef3b42-beea-456a-8657-6139017532c5&amp;config=eyJjbHVzdGVyVXJsIjoiaHR0cHM6Ly9XQUJJLVVBRS1OT1JUSC1BLVBSSU1BUlktcmVkaXJlY3QuYW5hbHlzaXMud2luZG93cy5uZXQiLCJlbWJlZEZlYXR1cmVzIjp7InVzYWdlTWV0cmljc1ZOZXh0Ijp0cnVlfX0%3D&amp;disableSensitivityBanner=true&quot;"/>
    <we:property name="initialStateBookmark" value="&quot;H4sIAAAAAAAAA6VTTU/jMBD9K8jnamU78Ue4AdoTy4cAcUFoNXamlRc3jhwHFar+d2y3Eoc9VCqXxPP85r2ZyWRLejeNHj5uYY3knFyG8LaG+HbGyIIMB+zu7vrm4uH67+3Fze8MhzG5MEzkfEsSxBWmZzfN4ItCBl9eFwS8v4dViZbgJ1yQEeMUBvDuE/fkfJXijLsFwc3oQ4Qi+ZggYZF9z/QcZ2/2q8mOYJN7x0e0aY8+4BhiOsQdpYzDklrQggo0veU650z721rmcX4xrYVdhSGBG3IBBZNdzxksjRTIbdtSq0TlTm5Y+UMr37lPH2OZV8JNMmFTJmX+Zc+itNvlVhWCMUJKAbzrlDSMS3G6mta6kdBC14qeakat0ep0tUYb2SnayNayVvKGSQNH1aAO9HJOKX+W/yQBlOQqNwk9o1K2mrXsh5Kql4yj0bThgiugnW1O7rkKfiNkjXmXyyHMaRrB4j0MOX7ZkjGGvMDJYeXlhYWhx/5wjuX9xyWMe+tn8HNxrZtPqkmuxhmPRxLK/0BqWa/l8QUe8J3jmgMAAA==&quot;"/>
    <we:property name="isFiltersActionButtonVisible" value="true"/>
    <we:property name="isVisualContainerHeaderHidden" value="false"/>
    <we:property name="pageDisplayName" value="&quot;Home&quot;"/>
    <we:property name="pageName" value="&quot;ReportSection90012af0ca8505ebdc28&quot;"/>
    <we:property name="reportEmbeddedTime" value="&quot;2025-02-12T05:37:52.059Z&quot;"/>
    <we:property name="reportName" value="&quot;Insurance Insights &amp; Trends&quot;"/>
    <we:property name="reportState" value="&quot;CONNECTED&quot;"/>
    <we:property name="reportUrl" value="&quot;/groups/me/reports/acef3b42-beea-456a-8657-6139017532c5/ReportSection90012af0ca8505ebdc28?bookmarkGuid=669ce77e-f469-4660-bca8-7eb8a7f8bb22&amp;bookmarkUsage=1&amp;ctid=df8679cd-a80e-45d8-99ac-c83ed7ff95a0&amp;fromEntryPoint=expor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TotalTime>
  <Words>1111</Words>
  <Application>Microsoft Office PowerPoint</Application>
  <PresentationFormat>Widescreen</PresentationFormat>
  <Paragraphs>257</Paragraphs>
  <Slides>30</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30</vt:i4>
      </vt:variant>
    </vt:vector>
  </HeadingPairs>
  <TitlesOfParts>
    <vt:vector size="35" baseType="lpstr">
      <vt:lpstr>等线</vt:lpstr>
      <vt:lpstr>Arial</vt:lpstr>
      <vt:lpstr>Segoe UI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Microsoft Power BI</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shubham jeware</cp:lastModifiedBy>
  <cp:revision>81</cp:revision>
  <dcterms:created xsi:type="dcterms:W3CDTF">2015-10-17T07:33:00Z</dcterms:created>
  <dcterms:modified xsi:type="dcterms:W3CDTF">2025-02-14T04:05:18Z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1033-12.2.0.19805</vt:lpwstr>
  </property>
  <property fmtid="{D5CDD505-2E9C-101B-9397-08002B2CF9AE}" pid="3" name="ICV">
    <vt:lpwstr>A70624B038E440CEB60FB8438DC926FB_11</vt:lpwstr>
  </property>
</Properties>
</file>